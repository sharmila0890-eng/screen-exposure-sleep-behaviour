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86" r:id="rId5"/>
    <p:sldId id="290" r:id="rId6"/>
    <p:sldId id="258" r:id="rId7"/>
    <p:sldId id="259" r:id="rId8"/>
    <p:sldId id="260" r:id="rId9"/>
    <p:sldId id="261" r:id="rId10"/>
    <p:sldId id="262" r:id="rId11"/>
    <p:sldId id="263" r:id="rId12"/>
    <p:sldId id="264" r:id="rId13"/>
    <p:sldId id="265" r:id="rId14"/>
    <p:sldId id="266" r:id="rId15"/>
    <p:sldId id="267" r:id="rId16"/>
    <p:sldId id="268" r:id="rId17"/>
    <p:sldId id="287" r:id="rId18"/>
    <p:sldId id="281" r:id="rId19"/>
    <p:sldId id="282" r:id="rId20"/>
    <p:sldId id="283" r:id="rId21"/>
    <p:sldId id="284" r:id="rId22"/>
    <p:sldId id="274" r:id="rId23"/>
    <p:sldId id="285" r:id="rId24"/>
    <p:sldId id="288" r:id="rId25"/>
    <p:sldId id="289" r:id="rId26"/>
    <p:sldId id="277" r:id="rId27"/>
    <p:sldId id="280"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4660"/>
  </p:normalViewPr>
  <p:slideViewPr>
    <p:cSldViewPr snapToGrid="0" showGuides="1">
      <p:cViewPr varScale="1">
        <p:scale>
          <a:sx n="103" d="100"/>
          <a:sy n="103" d="100"/>
        </p:scale>
        <p:origin x="859"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
        <p:cNvGrpSpPr/>
        <p:nvPr/>
      </p:nvGrpSpPr>
      <p:grpSpPr>
        <a:xfrm>
          <a:off x="0" y="0"/>
          <a:ext cx="0" cy="0"/>
          <a:chOff x="0" y="0"/>
          <a:chExt cx="0" cy="0"/>
        </a:xfrm>
      </p:grpSpPr>
      <p:sp>
        <p:nvSpPr>
          <p:cNvPr id="76" name="Google Shape;7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4" name="Google Shape;1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8"/>
        <p:cNvGrpSpPr/>
        <p:nvPr/>
      </p:nvGrpSpPr>
      <p:grpSpPr>
        <a:xfrm>
          <a:off x="0" y="0"/>
          <a:ext cx="0" cy="0"/>
          <a:chOff x="0" y="0"/>
          <a:chExt cx="0" cy="0"/>
        </a:xfrm>
      </p:grpSpPr>
      <p:sp>
        <p:nvSpPr>
          <p:cNvPr id="119" name="Google Shape;11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0" name="Google Shape;1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8" name="Google Shape;1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
        <p:cNvGrpSpPr/>
        <p:nvPr/>
      </p:nvGrpSpPr>
      <p:grpSpPr>
        <a:xfrm>
          <a:off x="0" y="0"/>
          <a:ext cx="0" cy="0"/>
          <a:chOff x="0" y="0"/>
          <a:chExt cx="0" cy="0"/>
        </a:xfrm>
      </p:grpSpPr>
      <p:sp>
        <p:nvSpPr>
          <p:cNvPr id="135" name="Google Shape;13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6" name="Google Shape;13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2"/>
        <p:cNvGrpSpPr/>
        <p:nvPr/>
      </p:nvGrpSpPr>
      <p:grpSpPr>
        <a:xfrm>
          <a:off x="0" y="0"/>
          <a:ext cx="0" cy="0"/>
          <a:chOff x="0" y="0"/>
          <a:chExt cx="0" cy="0"/>
        </a:xfrm>
      </p:grpSpPr>
      <p:sp>
        <p:nvSpPr>
          <p:cNvPr id="143" name="Google Shape;14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4" name="Google Shape;14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2" name="Google Shape;19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2" name="Google Shape;19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2" name="Google Shape;19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2" name="Google Shape;19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8"/>
        <p:cNvGrpSpPr/>
        <p:nvPr/>
      </p:nvGrpSpPr>
      <p:grpSpPr>
        <a:xfrm>
          <a:off x="0" y="0"/>
          <a:ext cx="0" cy="0"/>
          <a:chOff x="0" y="0"/>
          <a:chExt cx="0" cy="0"/>
        </a:xfrm>
      </p:grpSpPr>
      <p:sp>
        <p:nvSpPr>
          <p:cNvPr id="229" name="Google Shape;22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panose="020B0604020202020204"/>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2"/>
        <p:cNvGrpSpPr/>
        <p:nvPr/>
      </p:nvGrpSpPr>
      <p:grpSpPr>
        <a:xfrm>
          <a:off x="0" y="0"/>
          <a:ext cx="0" cy="0"/>
          <a:chOff x="0" y="0"/>
          <a:chExt cx="0" cy="0"/>
        </a:xfrm>
      </p:grpSpPr>
      <p:sp>
        <p:nvSpPr>
          <p:cNvPr id="253" name="Google Shape;25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3"/>
        <p:cNvGrpSpPr/>
        <p:nvPr/>
      </p:nvGrpSpPr>
      <p:grpSpPr>
        <a:xfrm>
          <a:off x="0" y="0"/>
          <a:ext cx="0" cy="0"/>
          <a:chOff x="0" y="0"/>
          <a:chExt cx="0" cy="0"/>
        </a:xfrm>
      </p:grpSpPr>
      <p:sp>
        <p:nvSpPr>
          <p:cNvPr id="14" name="Google Shape;14;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16" name="Google Shape;1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7"/>
        <p:cNvGrpSpPr/>
        <p:nvPr/>
      </p:nvGrpSpPr>
      <p:grpSpPr>
        <a:xfrm>
          <a:off x="0" y="0"/>
          <a:ext cx="0" cy="0"/>
          <a:chOff x="0" y="0"/>
          <a:chExt cx="0" cy="0"/>
        </a:xfrm>
      </p:grpSpPr>
      <p:sp>
        <p:nvSpPr>
          <p:cNvPr id="18" name="Google Shape;18;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9"/>
        <p:cNvGrpSpPr/>
        <p:nvPr/>
      </p:nvGrpSpPr>
      <p:grpSpPr>
        <a:xfrm>
          <a:off x="0" y="0"/>
          <a:ext cx="0" cy="0"/>
          <a:chOff x="0" y="0"/>
          <a:chExt cx="0" cy="0"/>
        </a:xfrm>
      </p:grpSpPr>
      <p:sp>
        <p:nvSpPr>
          <p:cNvPr id="20" name="Google Shape;20;p3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2"/>
        <p:cNvGrpSpPr/>
        <p:nvPr/>
      </p:nvGrpSpPr>
      <p:grpSpPr>
        <a:xfrm>
          <a:off x="0" y="0"/>
          <a:ext cx="0" cy="0"/>
          <a:chOff x="0" y="0"/>
          <a:chExt cx="0" cy="0"/>
        </a:xfrm>
      </p:grpSpPr>
      <p:sp>
        <p:nvSpPr>
          <p:cNvPr id="23" name="Google Shape;23;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3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5" name="Google Shape;25;p3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6" name="Google Shape;2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7"/>
        <p:cNvGrpSpPr/>
        <p:nvPr/>
      </p:nvGrpSpPr>
      <p:grpSpPr>
        <a:xfrm>
          <a:off x="0" y="0"/>
          <a:ext cx="0" cy="0"/>
          <a:chOff x="0" y="0"/>
          <a:chExt cx="0" cy="0"/>
        </a:xfrm>
      </p:grpSpPr>
      <p:sp>
        <p:nvSpPr>
          <p:cNvPr id="28" name="Google Shape;28;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3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33" name="Google Shape;3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 name="Google Shape;39;p3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3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3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42" name="Google Shape;42;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p:txBody>
      </p:sp>
      <p:sp>
        <p:nvSpPr>
          <p:cNvPr id="45" name="Google Shape;45;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p:txBody>
      </p:sp>
      <p:sp>
        <p:nvSpPr>
          <p:cNvPr id="49" name="Google Shape;49;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8" name="Google Shape;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3.xml"/><Relationship Id="rId3" Type="http://schemas.openxmlformats.org/officeDocument/2006/relationships/hyperlink" Target="https://docs.google.com/spreadsheets/d/10Vi-aLxvQ_1YuG0tilQm-xQP-DYk0tl-wfYqgoGO4xk/edit?gid=0#gid=0" TargetMode="External"/><Relationship Id="rId2" Type="http://schemas.openxmlformats.org/officeDocument/2006/relationships/image" Target="../media/image2.jpe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subTitle" idx="1"/>
          </p:nvPr>
        </p:nvSpPr>
        <p:spPr>
          <a:xfrm>
            <a:off x="320442" y="1292085"/>
            <a:ext cx="8503116" cy="795591"/>
          </a:xfrm>
          <a:prstGeom prst="rect">
            <a:avLst/>
          </a:prstGeom>
          <a:noFill/>
          <a:ln>
            <a:noFill/>
          </a:ln>
        </p:spPr>
        <p:txBody>
          <a:bodyPr spcFirstLastPara="1" wrap="square" lIns="91425" tIns="91425" rIns="91425" bIns="91425" anchor="t" anchorCtr="0">
            <a:noAutofit/>
          </a:bodyPr>
          <a:lstStyle/>
          <a:p>
            <a:pPr lvl="0" defTabSz="457200" fontAlgn="base">
              <a:spcBef>
                <a:spcPct val="0"/>
              </a:spcBef>
              <a:spcAft>
                <a:spcPct val="0"/>
              </a:spcAft>
              <a:buClrTx/>
              <a:defRPr/>
            </a:pPr>
            <a:r>
              <a:rPr lang="en-IN" sz="2400" b="1" dirty="0">
                <a:solidFill>
                  <a:schemeClr val="tx1"/>
                </a:solidFill>
                <a:latin typeface="Times New Roman" panose="02020603050405020304" pitchFamily="18" charset="0"/>
                <a:cs typeface="Times New Roman" panose="02020603050405020304" pitchFamily="18" charset="0"/>
              </a:rPr>
              <a:t>AGI1252- Fundamentals of Data Science Using R</a:t>
            </a:r>
            <a:endParaRPr lang="en-IN" sz="2400" b="1" dirty="0">
              <a:solidFill>
                <a:schemeClr val="tx1"/>
              </a:solidFill>
              <a:latin typeface="Times New Roman" panose="02020603050405020304" pitchFamily="18" charset="0"/>
              <a:cs typeface="Times New Roman" panose="02020603050405020304" pitchFamily="18" charset="0"/>
            </a:endParaRPr>
          </a:p>
          <a:p>
            <a:pPr lvl="0" defTabSz="457200" fontAlgn="base">
              <a:spcBef>
                <a:spcPct val="0"/>
              </a:spcBef>
              <a:spcAft>
                <a:spcPct val="0"/>
              </a:spcAft>
              <a:buClrTx/>
              <a:defRPr/>
            </a:pPr>
            <a:endParaRPr lang="en-IN" sz="2400" b="1" dirty="0">
              <a:solidFill>
                <a:schemeClr val="tx1"/>
              </a:solidFill>
              <a:latin typeface="Times New Roman" panose="02020603050405020304" pitchFamily="18" charset="0"/>
              <a:cs typeface="Times New Roman" panose="02020603050405020304" pitchFamily="18" charset="0"/>
            </a:endParaRPr>
          </a:p>
          <a:p>
            <a:pPr marL="0" lvl="0" indent="0" defTabSz="457200" fontAlgn="base">
              <a:spcBef>
                <a:spcPct val="0"/>
              </a:spcBef>
              <a:spcAft>
                <a:spcPct val="0"/>
              </a:spcAft>
              <a:buClrTx/>
              <a:buSzTx/>
              <a:defRPr/>
            </a:pPr>
            <a:r>
              <a:rPr lang="en-US" sz="2400" b="1" kern="1200" dirty="0">
                <a:solidFill>
                  <a:prstClr val="black"/>
                </a:solidFill>
                <a:latin typeface="Times New Roman" panose="02020603050405020304" pitchFamily="18" charset="0"/>
                <a:cs typeface="Times New Roman" panose="02020603050405020304" pitchFamily="18" charset="0"/>
              </a:rPr>
              <a:t>Department of Artificial Intelligence and Data Science</a:t>
            </a:r>
            <a:endParaRPr lang="en-US" sz="2400" b="1" kern="1200" dirty="0">
              <a:solidFill>
                <a:prstClr val="black"/>
              </a:solidFill>
              <a:latin typeface="Times New Roman" panose="02020603050405020304" pitchFamily="18" charset="0"/>
              <a:cs typeface="Times New Roman" panose="02020603050405020304" pitchFamily="18" charset="0"/>
            </a:endParaRPr>
          </a:p>
          <a:p>
            <a:pPr marL="0" lvl="0" indent="0" defTabSz="457200" fontAlgn="base">
              <a:spcBef>
                <a:spcPct val="0"/>
              </a:spcBef>
              <a:spcAft>
                <a:spcPct val="0"/>
              </a:spcAft>
              <a:buClrTx/>
              <a:buSzTx/>
              <a:defRPr/>
            </a:pPr>
            <a:r>
              <a:rPr lang="en-US" sz="2400" b="1" kern="1200" dirty="0">
                <a:solidFill>
                  <a:prstClr val="black"/>
                </a:solidFill>
                <a:latin typeface="Times New Roman" panose="02020603050405020304" pitchFamily="18" charset="0"/>
                <a:cs typeface="Times New Roman" panose="02020603050405020304" pitchFamily="18" charset="0"/>
              </a:rPr>
              <a:t>Academic Year: 2025 – 2026 (Even Semester)</a:t>
            </a:r>
            <a:endParaRPr lang="en-US" sz="2400" b="1" kern="1200" dirty="0">
              <a:solidFill>
                <a:prstClr val="black"/>
              </a:solidFill>
              <a:latin typeface="Times New Roman" panose="02020603050405020304" pitchFamily="18" charset="0"/>
              <a:cs typeface="Times New Roman" panose="02020603050405020304" pitchFamily="18" charset="0"/>
            </a:endParaRPr>
          </a:p>
          <a:p>
            <a:pPr marL="0" lvl="0" indent="0" defTabSz="457200" fontAlgn="base">
              <a:spcBef>
                <a:spcPct val="0"/>
              </a:spcBef>
              <a:spcAft>
                <a:spcPct val="0"/>
              </a:spcAft>
              <a:buClrTx/>
              <a:buSzTx/>
              <a:defRPr/>
            </a:pPr>
            <a:endParaRPr lang="en-US" sz="2400" b="1" kern="1200" dirty="0">
              <a:solidFill>
                <a:prstClr val="black"/>
              </a:solidFill>
              <a:latin typeface="Times New Roman" panose="02020603050405020304" pitchFamily="18" charset="0"/>
              <a:cs typeface="Times New Roman" panose="02020603050405020304" pitchFamily="18" charset="0"/>
            </a:endParaRPr>
          </a:p>
          <a:p>
            <a:pPr marL="0" indent="0" defTabSz="457200" fontAlgn="base">
              <a:spcBef>
                <a:spcPct val="0"/>
              </a:spcBef>
              <a:spcAft>
                <a:spcPct val="0"/>
              </a:spcAft>
              <a:buClrTx/>
              <a:buSzTx/>
              <a:defRPr/>
            </a:pPr>
            <a:r>
              <a:rPr lang="en-US" sz="2400" b="1" kern="1200" dirty="0">
                <a:solidFill>
                  <a:prstClr val="black"/>
                </a:solidFill>
                <a:latin typeface="Times New Roman" panose="02020603050405020304" pitchFamily="18" charset="0"/>
                <a:cs typeface="Times New Roman" panose="02020603050405020304" pitchFamily="18" charset="0"/>
              </a:rPr>
              <a:t>BATCH 11</a:t>
            </a:r>
            <a:endParaRPr lang="en-US" sz="2400" b="1" kern="1200" dirty="0">
              <a:solidFill>
                <a:prstClr val="black"/>
              </a:solidFill>
              <a:latin typeface="Times New Roman" panose="02020603050405020304" pitchFamily="18" charset="0"/>
              <a:cs typeface="Times New Roman" panose="02020603050405020304" pitchFamily="18" charset="0"/>
            </a:endParaRPr>
          </a:p>
          <a:p>
            <a:pPr marL="0" lvl="0" indent="0" algn="l" defTabSz="457200" fontAlgn="base">
              <a:spcBef>
                <a:spcPct val="0"/>
              </a:spcBef>
              <a:spcAft>
                <a:spcPct val="0"/>
              </a:spcAft>
              <a:buClrTx/>
              <a:buSzTx/>
              <a:defRPr/>
            </a:pPr>
            <a:r>
              <a:rPr lang="en-US" sz="2400" b="1" kern="1200" dirty="0">
                <a:solidFill>
                  <a:prstClr val="black"/>
                </a:solidFill>
                <a:latin typeface="Times New Roman" panose="02020603050405020304" pitchFamily="18" charset="0"/>
                <a:cs typeface="Times New Roman" panose="02020603050405020304" pitchFamily="18" charset="0"/>
              </a:rPr>
              <a:t>Year				    : II</a:t>
            </a:r>
            <a:endParaRPr lang="en-US" sz="2400" b="1" kern="1200" dirty="0">
              <a:solidFill>
                <a:prstClr val="black"/>
              </a:solidFill>
              <a:latin typeface="Times New Roman" panose="02020603050405020304" pitchFamily="18" charset="0"/>
              <a:cs typeface="Times New Roman" panose="02020603050405020304" pitchFamily="18" charset="0"/>
            </a:endParaRPr>
          </a:p>
          <a:p>
            <a:pPr marL="0" lvl="0" indent="0" algn="l" defTabSz="457200" fontAlgn="base">
              <a:spcBef>
                <a:spcPct val="0"/>
              </a:spcBef>
              <a:spcAft>
                <a:spcPct val="0"/>
              </a:spcAft>
              <a:buClrTx/>
              <a:buSzTx/>
              <a:defRPr/>
            </a:pPr>
            <a:r>
              <a:rPr lang="en-US" sz="2400" b="1" kern="1200" dirty="0">
                <a:solidFill>
                  <a:prstClr val="black"/>
                </a:solidFill>
                <a:latin typeface="Times New Roman" panose="02020603050405020304" pitchFamily="18" charset="0"/>
                <a:cs typeface="Times New Roman" panose="02020603050405020304" pitchFamily="18" charset="0"/>
              </a:rPr>
              <a:t>Semester			    : IV</a:t>
            </a:r>
            <a:endParaRPr lang="en-US" sz="2400" b="1" kern="1200" dirty="0">
              <a:solidFill>
                <a:prstClr val="black"/>
              </a:solidFill>
              <a:latin typeface="Times New Roman" panose="02020603050405020304" pitchFamily="18" charset="0"/>
              <a:cs typeface="Times New Roman" panose="02020603050405020304" pitchFamily="18" charset="0"/>
            </a:endParaRPr>
          </a:p>
          <a:p>
            <a:pPr marL="0" lvl="0" indent="0" algn="l" defTabSz="457200" fontAlgn="base">
              <a:spcBef>
                <a:spcPct val="0"/>
              </a:spcBef>
              <a:spcAft>
                <a:spcPct val="0"/>
              </a:spcAft>
              <a:buClrTx/>
              <a:buSzTx/>
              <a:defRPr/>
            </a:pPr>
            <a:r>
              <a:rPr lang="en-US" sz="2400" b="1" kern="1200" dirty="0">
                <a:solidFill>
                  <a:prstClr val="black"/>
                </a:solidFill>
                <a:latin typeface="Times New Roman" panose="02020603050405020304" pitchFamily="18" charset="0"/>
                <a:cs typeface="Times New Roman" panose="02020603050405020304" pitchFamily="18" charset="0"/>
              </a:rPr>
              <a:t>Section			    : B</a:t>
            </a:r>
            <a:endParaRPr lang="en-US" sz="2400" b="1" kern="1200" dirty="0">
              <a:solidFill>
                <a:prstClr val="black"/>
              </a:solidFill>
              <a:latin typeface="Times New Roman" panose="02020603050405020304" pitchFamily="18" charset="0"/>
              <a:cs typeface="Times New Roman" panose="02020603050405020304" pitchFamily="18" charset="0"/>
            </a:endParaRPr>
          </a:p>
          <a:p>
            <a:pPr marL="0" lvl="0" indent="0" algn="l" defTabSz="457200" fontAlgn="base">
              <a:spcBef>
                <a:spcPct val="0"/>
              </a:spcBef>
              <a:spcAft>
                <a:spcPct val="0"/>
              </a:spcAft>
              <a:buClrTx/>
              <a:buSzTx/>
              <a:defRPr/>
            </a:pPr>
            <a:r>
              <a:rPr lang="en-US" sz="2400" b="1" kern="1200" dirty="0">
                <a:solidFill>
                  <a:prstClr val="black"/>
                </a:solidFill>
                <a:latin typeface="Times New Roman" panose="02020603050405020304" pitchFamily="18" charset="0"/>
                <a:cs typeface="Times New Roman" panose="02020603050405020304" pitchFamily="18" charset="0"/>
              </a:rPr>
              <a:t>Date				    : 05-05-2026</a:t>
            </a:r>
            <a:endParaRPr lang="en-US" sz="2400" b="1" kern="1200" dirty="0">
              <a:solidFill>
                <a:prstClr val="black"/>
              </a:solidFill>
              <a:latin typeface="Times New Roman" panose="02020603050405020304" pitchFamily="18" charset="0"/>
              <a:cs typeface="Times New Roman" panose="02020603050405020304" pitchFamily="18" charset="0"/>
            </a:endParaRPr>
          </a:p>
          <a:p>
            <a:pPr marL="0" indent="0" defTabSz="457200" fontAlgn="base">
              <a:spcBef>
                <a:spcPct val="0"/>
              </a:spcBef>
              <a:spcAft>
                <a:spcPct val="0"/>
              </a:spcAft>
              <a:buClrTx/>
              <a:buSzTx/>
              <a:defRPr/>
            </a:pPr>
            <a:endParaRPr lang="en-US" sz="2400" b="1" kern="1200" dirty="0">
              <a:solidFill>
                <a:prstClr val="black"/>
              </a:solidFill>
              <a:latin typeface="Times New Roman" panose="02020603050405020304" pitchFamily="18" charset="0"/>
              <a:cs typeface="Times New Roman" panose="02020603050405020304" pitchFamily="18" charset="0"/>
            </a:endParaRPr>
          </a:p>
          <a:p>
            <a:pPr marL="0" lvl="0" indent="0" defTabSz="457200" fontAlgn="base">
              <a:spcBef>
                <a:spcPct val="0"/>
              </a:spcBef>
              <a:spcAft>
                <a:spcPct val="0"/>
              </a:spcAft>
              <a:buClrTx/>
              <a:buSzTx/>
              <a:defRPr/>
            </a:pPr>
            <a:endParaRPr lang="en-US" sz="2400" b="1" kern="1200" dirty="0">
              <a:solidFill>
                <a:prstClr val="black"/>
              </a:solidFill>
              <a:latin typeface="Times New Roman" panose="02020603050405020304" pitchFamily="18" charset="0"/>
              <a:cs typeface="Times New Roman" panose="02020603050405020304" pitchFamily="18" charset="0"/>
            </a:endParaRPr>
          </a:p>
          <a:p>
            <a:pPr lvl="0" defTabSz="457200" fontAlgn="base">
              <a:spcBef>
                <a:spcPct val="0"/>
              </a:spcBef>
              <a:spcAft>
                <a:spcPct val="0"/>
              </a:spcAft>
              <a:buClrTx/>
              <a:defRPr/>
            </a:pPr>
            <a:endParaRPr lang="en-IN" sz="2400" b="1" dirty="0">
              <a:solidFill>
                <a:schemeClr val="tx1"/>
              </a:solidFill>
              <a:latin typeface="Times New Roman" panose="02020603050405020304" pitchFamily="18" charset="0"/>
              <a:cs typeface="Times New Roman" panose="02020603050405020304" pitchFamily="18" charset="0"/>
            </a:endParaRPr>
          </a:p>
        </p:txBody>
      </p:sp>
      <p:pic>
        <p:nvPicPr>
          <p:cNvPr id="57" name="Google Shape;57;p1" descr="KRCT"/>
          <p:cNvPicPr preferRelativeResize="0"/>
          <p:nvPr/>
        </p:nvPicPr>
        <p:blipFill rotWithShape="1">
          <a:blip r:embed="rId1"/>
          <a:srcRect/>
          <a:stretch>
            <a:fillRect/>
          </a:stretch>
        </p:blipFill>
        <p:spPr>
          <a:xfrm>
            <a:off x="428319" y="117829"/>
            <a:ext cx="4954449" cy="1150139"/>
          </a:xfrm>
          <a:prstGeom prst="rect">
            <a:avLst/>
          </a:prstGeom>
          <a:noFill/>
          <a:ln>
            <a:noFill/>
          </a:ln>
        </p:spPr>
      </p:pic>
      <p:pic>
        <p:nvPicPr>
          <p:cNvPr id="4" name="Google Shape;64;p2"/>
          <p:cNvPicPr preferRelativeResize="0"/>
          <p:nvPr/>
        </p:nvPicPr>
        <p:blipFill rotWithShape="1">
          <a:blip r:embed="rId2"/>
          <a:srcRect/>
          <a:stretch>
            <a:fillRect/>
          </a:stretch>
        </p:blipFill>
        <p:spPr>
          <a:xfrm>
            <a:off x="7753732" y="295102"/>
            <a:ext cx="824970" cy="795591"/>
          </a:xfrm>
          <a:prstGeom prst="rect">
            <a:avLst/>
          </a:prstGeom>
          <a:noFill/>
          <a:ln>
            <a:noFill/>
          </a:ln>
        </p:spPr>
      </p:pic>
      <p:sp>
        <p:nvSpPr>
          <p:cNvPr id="5" name="Slide Number Placeholder 4"/>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subTitle" idx="1"/>
          </p:nvPr>
        </p:nvSpPr>
        <p:spPr>
          <a:xfrm>
            <a:off x="311700" y="1831013"/>
            <a:ext cx="8520600" cy="1013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AN EMPIRICAL STUDY ON THE EFFECT OF DAILY SCREEN EXPOSURE ON SLEEP BEHAVIOUR</a:t>
            </a:r>
            <a:endParaRPr sz="24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55" name="Google Shape;55;p1"/>
          <p:cNvSpPr txBox="1"/>
          <p:nvPr/>
        </p:nvSpPr>
        <p:spPr>
          <a:xfrm>
            <a:off x="428319" y="3242668"/>
            <a:ext cx="4352544" cy="17202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PRESENTED BY</a:t>
            </a:r>
            <a:endParaRPr sz="1800" b="0" i="0" u="none" strike="noStrike" cap="none"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l" rtl="0">
              <a:lnSpc>
                <a:spcPct val="100000"/>
              </a:lnSpc>
              <a:spcBef>
                <a:spcPts val="300"/>
              </a:spcBef>
              <a:spcAft>
                <a:spcPts val="0"/>
              </a:spcAft>
              <a:buClr>
                <a:srgbClr val="000000"/>
              </a:buClr>
              <a:buSzPts val="1800"/>
              <a:buFont typeface="Arial" panose="020B0604020202020204"/>
              <a:buNone/>
            </a:pPr>
            <a:r>
              <a:rPr lang="en-US" sz="18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OVIYA  P              (2403811724322072) </a:t>
            </a:r>
            <a:endParaRPr sz="18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300"/>
              </a:spcBef>
              <a:spcAft>
                <a:spcPts val="0"/>
              </a:spcAft>
              <a:buClr>
                <a:srgbClr val="000000"/>
              </a:buClr>
              <a:buSzPts val="1800"/>
              <a:buFont typeface="Arial" panose="020B0604020202020204"/>
              <a:buNone/>
            </a:pPr>
            <a:r>
              <a:rPr lang="en-US" sz="18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PRASHANTH G   (2403811724321079)</a:t>
            </a:r>
            <a:endParaRPr sz="18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300"/>
              </a:spcBef>
              <a:spcAft>
                <a:spcPts val="0"/>
              </a:spcAft>
              <a:buClr>
                <a:srgbClr val="000000"/>
              </a:buClr>
              <a:buSzPts val="1800"/>
              <a:buFont typeface="Arial" panose="020B0604020202020204"/>
              <a:buNone/>
            </a:pPr>
            <a:r>
              <a:rPr lang="en-US" sz="18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RISHI  P S             (2403811724321092)</a:t>
            </a:r>
            <a:endParaRPr sz="18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300"/>
              </a:spcBef>
              <a:spcAft>
                <a:spcPts val="0"/>
              </a:spcAft>
              <a:buClr>
                <a:srgbClr val="000000"/>
              </a:buClr>
              <a:buSzPts val="1800"/>
              <a:buFont typeface="Arial" panose="020B0604020202020204"/>
              <a:buNone/>
            </a:pPr>
            <a:r>
              <a:rPr lang="en-US" sz="18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SHARMILA N      (2403811724322107</a:t>
            </a:r>
            <a:r>
              <a:rPr lang="en-US" sz="1800" i="0" u="none" strike="noStrike" cap="none" dirty="0">
                <a:solidFill>
                  <a:srgbClr val="073763"/>
                </a:solidFill>
                <a:latin typeface="Times New Roman" panose="02020603050405020304" pitchFamily="18" charset="0"/>
                <a:cs typeface="Times New Roman" panose="02020603050405020304" pitchFamily="18" charset="0"/>
                <a:sym typeface="Arial" panose="020B0604020202020204"/>
              </a:rPr>
              <a:t>)</a:t>
            </a:r>
            <a:endParaRPr sz="1800" i="0" u="none" strike="noStrike" cap="none" dirty="0">
              <a:solidFill>
                <a:srgbClr val="073763"/>
              </a:solidFill>
              <a:latin typeface="Times New Roman" panose="02020603050405020304" pitchFamily="18" charset="0"/>
              <a:cs typeface="Times New Roman" panose="02020603050405020304" pitchFamily="18" charset="0"/>
              <a:sym typeface="Arial" panose="020B0604020202020204"/>
            </a:endParaRPr>
          </a:p>
        </p:txBody>
      </p:sp>
      <p:pic>
        <p:nvPicPr>
          <p:cNvPr id="56" name="Google Shape;56;p1"/>
          <p:cNvPicPr preferRelativeResize="0"/>
          <p:nvPr/>
        </p:nvPicPr>
        <p:blipFill rotWithShape="1">
          <a:blip r:embed="rId1"/>
          <a:srcRect/>
          <a:stretch>
            <a:fillRect/>
          </a:stretch>
        </p:blipFill>
        <p:spPr>
          <a:xfrm>
            <a:off x="7823860" y="379144"/>
            <a:ext cx="799740" cy="792600"/>
          </a:xfrm>
          <a:prstGeom prst="rect">
            <a:avLst/>
          </a:prstGeom>
          <a:noFill/>
          <a:ln>
            <a:noFill/>
          </a:ln>
        </p:spPr>
      </p:pic>
      <p:pic>
        <p:nvPicPr>
          <p:cNvPr id="57" name="Google Shape;57;p1" descr="KRCT"/>
          <p:cNvPicPr preferRelativeResize="0"/>
          <p:nvPr/>
        </p:nvPicPr>
        <p:blipFill rotWithShape="1">
          <a:blip r:embed="rId2"/>
          <a:srcRect/>
          <a:stretch>
            <a:fillRect/>
          </a:stretch>
        </p:blipFill>
        <p:spPr>
          <a:xfrm>
            <a:off x="428319" y="117829"/>
            <a:ext cx="4954449" cy="1315229"/>
          </a:xfrm>
          <a:prstGeom prst="rect">
            <a:avLst/>
          </a:prstGeom>
          <a:noFill/>
          <a:ln>
            <a:noFill/>
          </a:ln>
        </p:spPr>
      </p:pic>
      <p:sp>
        <p:nvSpPr>
          <p:cNvPr id="58" name="Google Shape;58;p1"/>
          <p:cNvSpPr txBox="1"/>
          <p:nvPr/>
        </p:nvSpPr>
        <p:spPr>
          <a:xfrm>
            <a:off x="5382768" y="3512736"/>
            <a:ext cx="4572000" cy="16850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1"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GUIDED BY</a:t>
            </a:r>
            <a:endParaRPr sz="1600" b="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endParaRPr>
          </a:p>
          <a:p>
            <a:pPr marL="0" marR="0" lvl="0" indent="0" algn="ctr" rtl="0">
              <a:lnSpc>
                <a:spcPct val="100000"/>
              </a:lnSpc>
              <a:spcBef>
                <a:spcPts val="300"/>
              </a:spcBef>
              <a:spcAft>
                <a:spcPts val="0"/>
              </a:spcAft>
              <a:buClr>
                <a:srgbClr val="000000"/>
              </a:buClr>
              <a:buSzPts val="1600"/>
              <a:buFont typeface="Arial" panose="020B0604020202020204"/>
              <a:buNone/>
            </a:pPr>
            <a:r>
              <a:rPr lang="en-US" sz="16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Mrs. Geetha S, M.E.,</a:t>
            </a:r>
            <a:endParaRPr sz="16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endParaRPr>
          </a:p>
          <a:p>
            <a:pPr marL="0" marR="0" lvl="0" indent="0" algn="ctr" rtl="0">
              <a:lnSpc>
                <a:spcPct val="100000"/>
              </a:lnSpc>
              <a:spcBef>
                <a:spcPts val="300"/>
              </a:spcBef>
              <a:spcAft>
                <a:spcPts val="0"/>
              </a:spcAft>
              <a:buClr>
                <a:srgbClr val="000000"/>
              </a:buClr>
              <a:buSzPts val="1600"/>
              <a:buFont typeface="Arial" panose="020B0604020202020204"/>
              <a:buNone/>
            </a:pPr>
            <a:r>
              <a:rPr lang="en-US" sz="16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Assistant Professor,</a:t>
            </a:r>
            <a:endParaRPr sz="16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endParaRPr>
          </a:p>
          <a:p>
            <a:pPr marL="0" marR="0" lvl="0" indent="0" algn="ctr" rtl="0">
              <a:lnSpc>
                <a:spcPct val="100000"/>
              </a:lnSpc>
              <a:spcBef>
                <a:spcPts val="300"/>
              </a:spcBef>
              <a:spcAft>
                <a:spcPts val="0"/>
              </a:spcAft>
              <a:buClr>
                <a:srgbClr val="000000"/>
              </a:buClr>
              <a:buSzPts val="1600"/>
              <a:buFont typeface="Arial" panose="020B0604020202020204"/>
              <a:buNone/>
            </a:pPr>
            <a:r>
              <a:rPr lang="en-US" sz="16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   Department of AI&amp;DS.</a:t>
            </a:r>
            <a:endParaRPr sz="1600" i="0"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br>
              <a:rPr lang="en-US"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p:nvPr/>
        </p:nvSpPr>
        <p:spPr>
          <a:xfrm>
            <a:off x="249400" y="1324850"/>
            <a:ext cx="7028100" cy="3518754"/>
          </a:xfrm>
          <a:prstGeom prst="rect">
            <a:avLst/>
          </a:prstGeom>
          <a:noFill/>
          <a:ln>
            <a:noFill/>
          </a:ln>
        </p:spPr>
        <p:txBody>
          <a:bodyPr spcFirstLastPara="1" wrap="square" lIns="91425" tIns="45700" rIns="91425" bIns="45700" anchor="t" anchorCtr="0">
            <a:noAutofit/>
          </a:bodyPr>
          <a:lstStyle/>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Objective</a:t>
            </a:r>
            <a:endParaRPr lang="en-IN" sz="1800" dirty="0" smtClean="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Problem Identification</a:t>
            </a:r>
            <a:endParaRPr lang="en-IN" sz="1800" dirty="0" smtClean="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Flow Diagram</a:t>
            </a:r>
            <a:endParaRPr lang="en-IN" sz="1800" dirty="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Literature Survey</a:t>
            </a:r>
            <a:endParaRPr lang="en-IN" sz="1800" dirty="0" smtClean="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Methodology</a:t>
            </a:r>
            <a:endParaRPr lang="en-IN" sz="1800" dirty="0" smtClean="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Hardware </a:t>
            </a:r>
            <a:r>
              <a:rPr lang="en-IN" sz="1800" dirty="0">
                <a:solidFill>
                  <a:schemeClr val="dk1"/>
                </a:solidFill>
                <a:latin typeface="Times New Roman" panose="02020603050405020304" pitchFamily="18" charset="0"/>
                <a:cs typeface="Times New Roman" panose="02020603050405020304" pitchFamily="18" charset="0"/>
              </a:rPr>
              <a:t>&amp; Software </a:t>
            </a:r>
            <a:r>
              <a:rPr lang="en-IN" sz="1800" dirty="0" smtClean="0">
                <a:solidFill>
                  <a:schemeClr val="dk1"/>
                </a:solidFill>
                <a:latin typeface="Times New Roman" panose="02020603050405020304" pitchFamily="18" charset="0"/>
                <a:cs typeface="Times New Roman" panose="02020603050405020304" pitchFamily="18" charset="0"/>
              </a:rPr>
              <a:t>requirements</a:t>
            </a:r>
            <a:endParaRPr lang="en-IN" sz="1800" dirty="0" smtClean="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Architecture Diagram</a:t>
            </a:r>
            <a:endParaRPr lang="en-IN" sz="1800" dirty="0" smtClean="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Modules Used</a:t>
            </a:r>
            <a:endParaRPr lang="en-IN" sz="1800" dirty="0" smtClean="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Modules </a:t>
            </a:r>
            <a:r>
              <a:rPr lang="en-IN" sz="1800" dirty="0">
                <a:solidFill>
                  <a:schemeClr val="dk1"/>
                </a:solidFill>
                <a:latin typeface="Times New Roman" panose="02020603050405020304" pitchFamily="18" charset="0"/>
                <a:cs typeface="Times New Roman" panose="02020603050405020304" pitchFamily="18" charset="0"/>
              </a:rPr>
              <a:t>Explanation </a:t>
            </a:r>
            <a:endParaRPr lang="en-IN" sz="1800" dirty="0" smtClean="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Implementation Screenshots</a:t>
            </a:r>
            <a:endParaRPr lang="en-IN" sz="1800" dirty="0">
              <a:solidFill>
                <a:schemeClr val="dk1"/>
              </a:solidFill>
              <a:latin typeface="Times New Roman" panose="02020603050405020304" pitchFamily="18" charset="0"/>
              <a:cs typeface="Times New Roman" panose="02020603050405020304" pitchFamily="18" charset="0"/>
            </a:endParaRPr>
          </a:p>
          <a:p>
            <a:pPr marL="457200" lvl="0" indent="-381000">
              <a:lnSpc>
                <a:spcPct val="115000"/>
              </a:lnSpc>
              <a:buClr>
                <a:schemeClr val="dk1"/>
              </a:buClr>
              <a:buSzPts val="2400"/>
              <a:buChar char="➢"/>
            </a:pPr>
            <a:r>
              <a:rPr lang="en-IN" sz="1800" dirty="0" smtClean="0">
                <a:solidFill>
                  <a:schemeClr val="dk1"/>
                </a:solidFill>
                <a:latin typeface="Times New Roman" panose="02020603050405020304" pitchFamily="18" charset="0"/>
                <a:cs typeface="Times New Roman" panose="02020603050405020304" pitchFamily="18" charset="0"/>
              </a:rPr>
              <a:t>Conclusion</a:t>
            </a:r>
            <a:endParaRPr sz="2800" u="none" strike="noStrike" cap="none" dirty="0">
              <a:solidFill>
                <a:schemeClr val="dk1"/>
              </a:solidFill>
              <a:latin typeface="Times New Roman" panose="02020603050405020304" pitchFamily="18" charset="0"/>
              <a:cs typeface="Times New Roman" panose="02020603050405020304" pitchFamily="18" charset="0"/>
            </a:endParaRPr>
          </a:p>
          <a:p>
            <a:pPr marL="457200" marR="0" lvl="0" indent="-228600" algn="l" rtl="0">
              <a:lnSpc>
                <a:spcPct val="115000"/>
              </a:lnSpc>
              <a:spcBef>
                <a:spcPts val="0"/>
              </a:spcBef>
              <a:spcAft>
                <a:spcPts val="0"/>
              </a:spcAft>
              <a:buClr>
                <a:schemeClr val="dk1"/>
              </a:buClr>
              <a:buSzPts val="2400"/>
              <a:buFont typeface="Arial" panose="020B0604020202020204"/>
              <a:buNone/>
            </a:pPr>
            <a:endParaRPr sz="2400" i="1" u="none" strike="noStrike" cap="none" dirty="0">
              <a:solidFill>
                <a:schemeClr val="dk1"/>
              </a:solidFill>
            </a:endParaRPr>
          </a:p>
          <a:p>
            <a:pPr marL="457200" marR="0" lvl="0" indent="-228600" algn="l" rtl="0">
              <a:lnSpc>
                <a:spcPct val="115000"/>
              </a:lnSpc>
              <a:spcBef>
                <a:spcPts val="0"/>
              </a:spcBef>
              <a:spcAft>
                <a:spcPts val="0"/>
              </a:spcAft>
              <a:buClr>
                <a:schemeClr val="dk1"/>
              </a:buClr>
              <a:buSzPts val="2400"/>
              <a:buFont typeface="Arial" panose="020B0604020202020204"/>
              <a:buNone/>
            </a:pPr>
            <a:endParaRPr sz="2400" i="1" u="none" strike="noStrike" cap="none" dirty="0">
              <a:solidFill>
                <a:schemeClr val="dk1"/>
              </a:solidFill>
            </a:endParaRPr>
          </a:p>
        </p:txBody>
      </p:sp>
      <p:pic>
        <p:nvPicPr>
          <p:cNvPr id="63" name="Google Shape;63;p2"/>
          <p:cNvPicPr preferRelativeResize="0"/>
          <p:nvPr/>
        </p:nvPicPr>
        <p:blipFill rotWithShape="1">
          <a:blip r:embed="rId1"/>
          <a:srcRect/>
          <a:stretch>
            <a:fillRect/>
          </a:stretch>
        </p:blipFill>
        <p:spPr>
          <a:xfrm>
            <a:off x="0" y="3"/>
            <a:ext cx="762558" cy="762395"/>
          </a:xfrm>
          <a:prstGeom prst="rect">
            <a:avLst/>
          </a:prstGeom>
          <a:noFill/>
          <a:ln>
            <a:noFill/>
          </a:ln>
        </p:spPr>
      </p:pic>
      <p:pic>
        <p:nvPicPr>
          <p:cNvPr id="64" name="Google Shape;64;p2"/>
          <p:cNvPicPr preferRelativeResize="0"/>
          <p:nvPr/>
        </p:nvPicPr>
        <p:blipFill rotWithShape="1">
          <a:blip r:embed="rId2"/>
          <a:srcRect/>
          <a:stretch>
            <a:fillRect/>
          </a:stretch>
        </p:blipFill>
        <p:spPr>
          <a:xfrm>
            <a:off x="8319030" y="6"/>
            <a:ext cx="824970" cy="795591"/>
          </a:xfrm>
          <a:prstGeom prst="rect">
            <a:avLst/>
          </a:prstGeom>
          <a:noFill/>
          <a:ln>
            <a:noFill/>
          </a:ln>
        </p:spPr>
      </p:pic>
      <p:sp>
        <p:nvSpPr>
          <p:cNvPr id="65" name="Google Shape;65;p2"/>
          <p:cNvSpPr txBox="1"/>
          <p:nvPr/>
        </p:nvSpPr>
        <p:spPr>
          <a:xfrm>
            <a:off x="249400" y="104150"/>
            <a:ext cx="9067800" cy="55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GB" sz="2400" b="1" i="0" u="none" strike="noStrike" cap="none" dirty="0">
                <a:solidFill>
                  <a:srgbClr val="990000"/>
                </a:solidFill>
                <a:latin typeface="Times New Roman" panose="02020603050405020304" pitchFamily="18" charset="0"/>
                <a:cs typeface="Times New Roman" panose="02020603050405020304" pitchFamily="18" charset="0"/>
                <a:sym typeface="Arial" panose="020B0604020202020204"/>
              </a:rPr>
              <a:t>PRESENTATION OVERVIEW</a:t>
            </a:r>
            <a:endParaRPr sz="2400" b="0" i="0" u="none" strike="noStrike" cap="none" dirty="0">
              <a:solidFill>
                <a:srgbClr val="99000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71" name="Google Shape;71;p3"/>
          <p:cNvPicPr preferRelativeResize="0"/>
          <p:nvPr/>
        </p:nvPicPr>
        <p:blipFill rotWithShape="1">
          <a:blip r:embed="rId1"/>
          <a:srcRect/>
          <a:stretch>
            <a:fillRect/>
          </a:stretch>
        </p:blipFill>
        <p:spPr>
          <a:xfrm>
            <a:off x="0" y="3"/>
            <a:ext cx="762558" cy="762395"/>
          </a:xfrm>
          <a:prstGeom prst="rect">
            <a:avLst/>
          </a:prstGeom>
          <a:noFill/>
          <a:ln>
            <a:noFill/>
          </a:ln>
        </p:spPr>
      </p:pic>
      <p:pic>
        <p:nvPicPr>
          <p:cNvPr id="72" name="Google Shape;72;p3"/>
          <p:cNvPicPr preferRelativeResize="0"/>
          <p:nvPr/>
        </p:nvPicPr>
        <p:blipFill rotWithShape="1">
          <a:blip r:embed="rId2"/>
          <a:srcRect/>
          <a:stretch>
            <a:fillRect/>
          </a:stretch>
        </p:blipFill>
        <p:spPr>
          <a:xfrm>
            <a:off x="8319030" y="6"/>
            <a:ext cx="824970" cy="795591"/>
          </a:xfrm>
          <a:prstGeom prst="rect">
            <a:avLst/>
          </a:prstGeom>
          <a:noFill/>
          <a:ln>
            <a:noFill/>
          </a:ln>
        </p:spPr>
      </p:pic>
      <p:sp>
        <p:nvSpPr>
          <p:cNvPr id="74" name="Google Shape;74;p3"/>
          <p:cNvSpPr/>
          <p:nvPr/>
        </p:nvSpPr>
        <p:spPr>
          <a:xfrm>
            <a:off x="661639" y="1787078"/>
            <a:ext cx="8006576" cy="1013460"/>
          </a:xfrm>
          <a:prstGeom prst="rect">
            <a:avLst/>
          </a:prstGeom>
          <a:noFill/>
          <a:ln>
            <a:noFill/>
          </a:ln>
        </p:spPr>
        <p:txBody>
          <a:bodyPr spcFirstLastPara="1" wrap="square" lIns="91425" tIns="45700" rIns="91425" bIns="45700" anchor="ctr" anchorCtr="0">
            <a:spAutoFit/>
          </a:bodyPr>
          <a:lstStyle/>
          <a:p>
            <a:pPr marL="0" lvl="0" indent="0" algn="just" eaLnBrk="1" fontAlgn="auto" latinLnBrk="0" hangingPunct="1">
              <a:lnSpc>
                <a:spcPct val="150000"/>
              </a:lnSpc>
            </a:pPr>
            <a:r>
              <a:rPr lang="en-US" sz="2000" dirty="0">
                <a:highlight>
                  <a:schemeClr val="lt1"/>
                </a:highlight>
                <a:latin typeface="Times New Roman" panose="02020603050405020304" pitchFamily="18" charset="0"/>
                <a:ea typeface="Bookman Old Style" panose="02050604050505020204"/>
                <a:cs typeface="Times New Roman" panose="02020603050405020304" pitchFamily="18" charset="0"/>
                <a:sym typeface="Bookman Old Style" panose="02050604050505020204"/>
              </a:rPr>
              <a:t>To evaluate the impact of screen exposure on perceived sleep quality using appropriate statistical methods.</a:t>
            </a:r>
            <a:endParaRPr lang="en-US" sz="2000" dirty="0">
              <a:highlight>
                <a:schemeClr val="lt1"/>
              </a:highlight>
              <a:latin typeface="Times New Roman" panose="02020603050405020304" pitchFamily="18" charset="0"/>
              <a:ea typeface="Bookman Old Style" panose="02050604050505020204"/>
              <a:cs typeface="Times New Roman" panose="02020603050405020304" pitchFamily="18" charset="0"/>
              <a:sym typeface="Bookman Old Style" panose="02050604050505020204"/>
            </a:endParaRPr>
          </a:p>
        </p:txBody>
      </p:sp>
      <p:sp>
        <p:nvSpPr>
          <p:cNvPr id="79" name="Google Shape;79;p4"/>
          <p:cNvSpPr txBox="1">
            <a:spLocks noGrp="1"/>
          </p:cNvSpPr>
          <p:nvPr>
            <p:ph type="title"/>
          </p:nvPr>
        </p:nvSpPr>
        <p:spPr>
          <a:xfrm>
            <a:off x="2017775" y="445025"/>
            <a:ext cx="4422000" cy="7074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rgbClr val="000000"/>
              </a:buClr>
              <a:buSzPts val="2800"/>
              <a:buNone/>
            </a:pPr>
            <a:r>
              <a:rPr lang="en-US" sz="2400" b="1" dirty="0">
                <a:solidFill>
                  <a:schemeClr val="tx1"/>
                </a:solidFill>
                <a:latin typeface="Times New Roman" panose="02020603050405020304" pitchFamily="18" charset="0"/>
                <a:cs typeface="Times New Roman" panose="02020603050405020304" pitchFamily="18" charset="0"/>
              </a:rPr>
              <a:t>OBJECTIVE</a:t>
            </a:r>
            <a:endParaRPr dirty="0">
              <a:solidFill>
                <a:schemeClr val="tx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80" name="Google Shape;80;p4"/>
          <p:cNvPicPr preferRelativeResize="0"/>
          <p:nvPr/>
        </p:nvPicPr>
        <p:blipFill rotWithShape="1">
          <a:blip r:embed="rId1"/>
          <a:srcRect/>
          <a:stretch>
            <a:fillRect/>
          </a:stretch>
        </p:blipFill>
        <p:spPr>
          <a:xfrm>
            <a:off x="0" y="3"/>
            <a:ext cx="762558" cy="762395"/>
          </a:xfrm>
          <a:prstGeom prst="rect">
            <a:avLst/>
          </a:prstGeom>
          <a:noFill/>
          <a:ln>
            <a:noFill/>
          </a:ln>
        </p:spPr>
      </p:pic>
      <p:pic>
        <p:nvPicPr>
          <p:cNvPr id="81" name="Google Shape;81;p4"/>
          <p:cNvPicPr preferRelativeResize="0"/>
          <p:nvPr/>
        </p:nvPicPr>
        <p:blipFill rotWithShape="1">
          <a:blip r:embed="rId2"/>
          <a:srcRect/>
          <a:stretch>
            <a:fillRect/>
          </a:stretch>
        </p:blipFill>
        <p:spPr>
          <a:xfrm>
            <a:off x="8319030" y="6"/>
            <a:ext cx="824970" cy="795591"/>
          </a:xfrm>
          <a:prstGeom prst="rect">
            <a:avLst/>
          </a:prstGeom>
          <a:noFill/>
          <a:ln>
            <a:noFill/>
          </a:ln>
        </p:spPr>
      </p:pic>
      <p:sp>
        <p:nvSpPr>
          <p:cNvPr id="82" name="Google Shape;82;p4"/>
          <p:cNvSpPr txBox="1">
            <a:spLocks noGrp="1"/>
          </p:cNvSpPr>
          <p:nvPr>
            <p:ph type="body" idx="1"/>
          </p:nvPr>
        </p:nvSpPr>
        <p:spPr>
          <a:xfrm>
            <a:off x="498088" y="1568605"/>
            <a:ext cx="8334212" cy="3000270"/>
          </a:xfrm>
          <a:prstGeom prst="rect">
            <a:avLst/>
          </a:prstGeom>
          <a:noFill/>
          <a:ln>
            <a:noFill/>
          </a:ln>
        </p:spPr>
        <p:txBody>
          <a:bodyPr spcFirstLastPara="1" wrap="square" lIns="91425" tIns="91425" rIns="91425" bIns="91425" anchor="t" anchorCtr="0">
            <a:normAutofit/>
          </a:bodyPr>
          <a:lstStyle/>
          <a:p>
            <a:pPr algn="l">
              <a:lnSpc>
                <a:spcPct val="150000"/>
              </a:lnSpc>
            </a:pPr>
            <a:r>
              <a:rPr lang="en-US" sz="2000" dirty="0">
                <a:solidFill>
                  <a:srgbClr val="000000"/>
                </a:solidFill>
                <a:highlight>
                  <a:schemeClr val="lt1"/>
                </a:highlight>
                <a:latin typeface="Times New Roman" panose="02020603050405020304" pitchFamily="18" charset="0"/>
                <a:ea typeface="Bookman Old Style" panose="02050604050505020204"/>
                <a:cs typeface="Times New Roman" panose="02020603050405020304" pitchFamily="18" charset="0"/>
              </a:rPr>
              <a:t>Daily use of digital devices has increased screen exposure. </a:t>
            </a:r>
            <a:endParaRPr lang="en-US" sz="2000" dirty="0">
              <a:solidFill>
                <a:srgbClr val="000000"/>
              </a:solidFill>
              <a:highlight>
                <a:schemeClr val="lt1"/>
              </a:highlight>
              <a:latin typeface="Times New Roman" panose="02020603050405020304" pitchFamily="18" charset="0"/>
              <a:ea typeface="Bookman Old Style" panose="02050604050505020204"/>
              <a:cs typeface="Times New Roman" panose="02020603050405020304" pitchFamily="18" charset="0"/>
            </a:endParaRPr>
          </a:p>
          <a:p>
            <a:pPr algn="l">
              <a:lnSpc>
                <a:spcPct val="150000"/>
              </a:lnSpc>
            </a:pPr>
            <a:r>
              <a:rPr lang="en-US" sz="2000" dirty="0">
                <a:solidFill>
                  <a:srgbClr val="000000"/>
                </a:solidFill>
                <a:highlight>
                  <a:schemeClr val="lt1"/>
                </a:highlight>
                <a:latin typeface="Times New Roman" panose="02020603050405020304" pitchFamily="18" charset="0"/>
                <a:ea typeface="Bookman Old Style" panose="02050604050505020204"/>
                <a:cs typeface="Times New Roman" panose="02020603050405020304" pitchFamily="18" charset="0"/>
              </a:rPr>
              <a:t>Excessive screen time can negatively affect sleep quality and duration. </a:t>
            </a:r>
            <a:endParaRPr lang="en-US" sz="2000" dirty="0">
              <a:solidFill>
                <a:srgbClr val="000000"/>
              </a:solidFill>
              <a:highlight>
                <a:schemeClr val="lt1"/>
              </a:highlight>
              <a:latin typeface="Times New Roman" panose="02020603050405020304" pitchFamily="18" charset="0"/>
              <a:ea typeface="Bookman Old Style" panose="02050604050505020204"/>
              <a:cs typeface="Times New Roman" panose="02020603050405020304" pitchFamily="18" charset="0"/>
            </a:endParaRPr>
          </a:p>
          <a:p>
            <a:pPr algn="l">
              <a:lnSpc>
                <a:spcPct val="150000"/>
              </a:lnSpc>
            </a:pPr>
            <a:r>
              <a:rPr lang="en-US" sz="2000" dirty="0">
                <a:solidFill>
                  <a:srgbClr val="000000"/>
                </a:solidFill>
                <a:highlight>
                  <a:schemeClr val="lt1"/>
                </a:highlight>
                <a:latin typeface="Times New Roman" panose="02020603050405020304" pitchFamily="18" charset="0"/>
                <a:ea typeface="Bookman Old Style" panose="02050604050505020204"/>
                <a:cs typeface="Times New Roman" panose="02020603050405020304" pitchFamily="18" charset="0"/>
              </a:rPr>
              <a:t>Blue light from screens disrupts the natural sleep cycle. </a:t>
            </a:r>
            <a:endParaRPr lang="en-US" sz="2000" dirty="0">
              <a:solidFill>
                <a:srgbClr val="000000"/>
              </a:solidFill>
              <a:highlight>
                <a:schemeClr val="lt1"/>
              </a:highlight>
              <a:latin typeface="Times New Roman" panose="02020603050405020304" pitchFamily="18" charset="0"/>
              <a:ea typeface="Bookman Old Style" panose="02050604050505020204"/>
              <a:cs typeface="Times New Roman" panose="02020603050405020304" pitchFamily="18" charset="0"/>
            </a:endParaRPr>
          </a:p>
          <a:p>
            <a:pPr algn="l">
              <a:lnSpc>
                <a:spcPct val="150000"/>
              </a:lnSpc>
            </a:pPr>
            <a:r>
              <a:rPr lang="en-US" sz="2000" dirty="0">
                <a:solidFill>
                  <a:srgbClr val="000000"/>
                </a:solidFill>
                <a:highlight>
                  <a:schemeClr val="lt1"/>
                </a:highlight>
                <a:latin typeface="Times New Roman" panose="02020603050405020304" pitchFamily="18" charset="0"/>
                <a:ea typeface="Bookman Old Style" panose="02050604050505020204"/>
                <a:cs typeface="Times New Roman" panose="02020603050405020304" pitchFamily="18" charset="0"/>
              </a:rPr>
              <a:t>Need for data-driven analysis using R programming language to study this impact. </a:t>
            </a:r>
            <a:endParaRPr lang="en-US" sz="2000" dirty="0">
              <a:solidFill>
                <a:srgbClr val="000000"/>
              </a:solidFill>
              <a:highlight>
                <a:schemeClr val="lt1"/>
              </a:highlight>
              <a:latin typeface="Times New Roman" panose="02020603050405020304" pitchFamily="18" charset="0"/>
              <a:ea typeface="Bookman Old Style" panose="02050604050505020204"/>
              <a:cs typeface="Times New Roman" panose="02020603050405020304" pitchFamily="18" charset="0"/>
            </a:endParaRPr>
          </a:p>
          <a:p>
            <a:pPr marL="0" lvl="0" indent="0" algn="just">
              <a:lnSpc>
                <a:spcPct val="105000"/>
              </a:lnSpc>
              <a:spcBef>
                <a:spcPts val="1200"/>
              </a:spcBef>
              <a:buClr>
                <a:schemeClr val="dk1"/>
              </a:buClr>
              <a:buSzPts val="1100"/>
              <a:buNone/>
            </a:pPr>
            <a:endParaRPr lang="en-US" sz="2000" dirty="0">
              <a:latin typeface="Bookman Old Style" panose="02050604050505020204"/>
              <a:ea typeface="Bookman Old Style" panose="02050604050505020204"/>
              <a:cs typeface="Bookman Old Style" panose="02050604050505020204"/>
              <a:sym typeface="Bookman Old Style" panose="02050604050505020204"/>
            </a:endParaRPr>
          </a:p>
        </p:txBody>
      </p:sp>
      <p:sp>
        <p:nvSpPr>
          <p:cNvPr id="3" name="Title 2"/>
          <p:cNvSpPr>
            <a:spLocks noGrp="1"/>
          </p:cNvSpPr>
          <p:nvPr>
            <p:ph type="title"/>
          </p:nvPr>
        </p:nvSpPr>
        <p:spPr/>
        <p:txBody>
          <a:bodyPr>
            <a:normAutofit fontScale="90000"/>
          </a:bodyPr>
          <a:lstStyle/>
          <a:p>
            <a:r>
              <a:rPr lang="en-US" b="1" dirty="0">
                <a:solidFill>
                  <a:srgbClr val="990000"/>
                </a:solidFill>
              </a:rPr>
              <a:t>                     </a:t>
            </a:r>
            <a:r>
              <a:rPr lang="en-US" b="1" dirty="0">
                <a:solidFill>
                  <a:schemeClr val="tx1"/>
                </a:solidFill>
                <a:latin typeface="Times New Roman" panose="02020603050405020304" pitchFamily="18" charset="0"/>
                <a:cs typeface="Times New Roman" panose="02020603050405020304" pitchFamily="18" charset="0"/>
              </a:rPr>
              <a:t>PROBLEM STATEMENT</a:t>
            </a:r>
            <a:br>
              <a:rPr lang="en-US" dirty="0">
                <a:solidFill>
                  <a:srgbClr val="990000"/>
                </a:solidFill>
                <a:latin typeface="Calibri" panose="020F0502020204030204"/>
                <a:ea typeface="Calibri" panose="020F0502020204030204"/>
                <a:cs typeface="Calibri" panose="020F0502020204030204"/>
                <a:sym typeface="Calibri" panose="020F0502020204030204"/>
              </a:rPr>
            </a:br>
            <a:endParaRPr lang="en-IN" dirty="0"/>
          </a:p>
        </p:txBody>
      </p:sp>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5"/>
          <p:cNvPicPr preferRelativeResize="0"/>
          <p:nvPr/>
        </p:nvPicPr>
        <p:blipFill rotWithShape="1">
          <a:blip r:embed="rId1"/>
          <a:srcRect/>
          <a:stretch>
            <a:fillRect/>
          </a:stretch>
        </p:blipFill>
        <p:spPr>
          <a:xfrm>
            <a:off x="0" y="3"/>
            <a:ext cx="762558" cy="762395"/>
          </a:xfrm>
          <a:prstGeom prst="rect">
            <a:avLst/>
          </a:prstGeom>
          <a:noFill/>
          <a:ln>
            <a:noFill/>
          </a:ln>
        </p:spPr>
      </p:pic>
      <p:pic>
        <p:nvPicPr>
          <p:cNvPr id="88" name="Google Shape;88;p5"/>
          <p:cNvPicPr preferRelativeResize="0"/>
          <p:nvPr/>
        </p:nvPicPr>
        <p:blipFill rotWithShape="1">
          <a:blip r:embed="rId2"/>
          <a:srcRect/>
          <a:stretch>
            <a:fillRect/>
          </a:stretch>
        </p:blipFill>
        <p:spPr>
          <a:xfrm>
            <a:off x="8319030" y="6"/>
            <a:ext cx="824970" cy="795591"/>
          </a:xfrm>
          <a:prstGeom prst="rect">
            <a:avLst/>
          </a:prstGeom>
          <a:noFill/>
          <a:ln>
            <a:noFill/>
          </a:ln>
        </p:spPr>
      </p:pic>
      <p:sp>
        <p:nvSpPr>
          <p:cNvPr id="89" name="Google Shape;89;p5"/>
          <p:cNvSpPr txBox="1"/>
          <p:nvPr/>
        </p:nvSpPr>
        <p:spPr>
          <a:xfrm>
            <a:off x="2308150" y="120750"/>
            <a:ext cx="4464000" cy="55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dirty="0">
                <a:solidFill>
                  <a:schemeClr val="tx1"/>
                </a:solidFill>
                <a:latin typeface="Times New Roman" panose="02020603050405020304" pitchFamily="18" charset="0"/>
                <a:ea typeface="Calibri" panose="020F0502020204030204"/>
                <a:cs typeface="Times New Roman" panose="02020603050405020304" pitchFamily="18" charset="0"/>
              </a:rPr>
              <a:t>FLOW DIAGRAM</a:t>
            </a:r>
            <a:endParaRPr sz="2400" b="0" i="0" u="none" strike="noStrike" cap="none"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cxnSp>
        <p:nvCxnSpPr>
          <p:cNvPr id="90" name="Google Shape;90;p5"/>
          <p:cNvCxnSpPr/>
          <p:nvPr/>
        </p:nvCxnSpPr>
        <p:spPr>
          <a:xfrm>
            <a:off x="4464000" y="3752400"/>
            <a:ext cx="0" cy="0"/>
          </a:xfrm>
          <a:prstGeom prst="straightConnector1">
            <a:avLst/>
          </a:prstGeom>
          <a:noFill/>
          <a:ln w="9525" cap="flat" cmpd="sng">
            <a:solidFill>
              <a:schemeClr val="dk2"/>
            </a:solidFill>
            <a:prstDash val="solid"/>
            <a:round/>
            <a:headEnd type="none" w="sm" len="sm"/>
            <a:tailEnd type="none" w="sm" len="sm"/>
          </a:ln>
        </p:spPr>
      </p:cxnSp>
      <p:cxnSp>
        <p:nvCxnSpPr>
          <p:cNvPr id="91" name="Google Shape;91;p5"/>
          <p:cNvCxnSpPr/>
          <p:nvPr/>
        </p:nvCxnSpPr>
        <p:spPr>
          <a:xfrm>
            <a:off x="4464000" y="3752400"/>
            <a:ext cx="0" cy="0"/>
          </a:xfrm>
          <a:prstGeom prst="straightConnector1">
            <a:avLst/>
          </a:prstGeom>
          <a:noFill/>
          <a:ln w="28575" cap="flat" cmpd="sng">
            <a:solidFill>
              <a:schemeClr val="dk2"/>
            </a:solidFill>
            <a:prstDash val="solid"/>
            <a:round/>
            <a:headEnd type="none" w="sm" len="sm"/>
            <a:tailEnd type="none" w="sm" len="sm"/>
          </a:ln>
        </p:spPr>
      </p:cxnSp>
      <p:cxnSp>
        <p:nvCxnSpPr>
          <p:cNvPr id="92" name="Google Shape;92;p5"/>
          <p:cNvCxnSpPr/>
          <p:nvPr/>
        </p:nvCxnSpPr>
        <p:spPr>
          <a:xfrm>
            <a:off x="5702100" y="4335300"/>
            <a:ext cx="0" cy="0"/>
          </a:xfrm>
          <a:prstGeom prst="straightConnector1">
            <a:avLst/>
          </a:prstGeom>
          <a:noFill/>
          <a:ln w="9525" cap="flat" cmpd="sng">
            <a:solidFill>
              <a:schemeClr val="dk2"/>
            </a:solidFill>
            <a:prstDash val="solid"/>
            <a:round/>
            <a:headEnd type="none" w="sm" len="sm"/>
            <a:tailEnd type="none" w="sm" len="sm"/>
          </a:ln>
        </p:spPr>
      </p:cxnSp>
      <p:pic>
        <p:nvPicPr>
          <p:cNvPr id="97" name="Google Shape;97;p5"/>
          <p:cNvPicPr preferRelativeResize="0"/>
          <p:nvPr/>
        </p:nvPicPr>
        <p:blipFill rotWithShape="1">
          <a:blip r:embed="rId3"/>
          <a:srcRect l="3635" t="7726" r="7500" b="15090"/>
          <a:stretch>
            <a:fillRect/>
          </a:stretch>
        </p:blipFill>
        <p:spPr>
          <a:xfrm>
            <a:off x="2694433" y="795596"/>
            <a:ext cx="3925824" cy="4227153"/>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6"/>
          <p:cNvSpPr txBox="1"/>
          <p:nvPr/>
        </p:nvSpPr>
        <p:spPr>
          <a:xfrm>
            <a:off x="38100" y="120750"/>
            <a:ext cx="9067800" cy="55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dirty="0">
                <a:solidFill>
                  <a:srgbClr val="990000"/>
                </a:solidFill>
                <a:ea typeface="Calibri" panose="020F0502020204030204"/>
              </a:rPr>
              <a:t>LITERATURE SURVEY</a:t>
            </a:r>
            <a:endParaRPr sz="2400" b="0" i="0" u="none" strike="noStrike" cap="none" dirty="0">
              <a:solidFill>
                <a:srgbClr val="990000"/>
              </a:solidFill>
              <a:latin typeface="Calibri" panose="020F0502020204030204"/>
              <a:ea typeface="Calibri" panose="020F0502020204030204"/>
              <a:cs typeface="Calibri" panose="020F0502020204030204"/>
              <a:sym typeface="Calibri" panose="020F0502020204030204"/>
            </a:endParaRPr>
          </a:p>
        </p:txBody>
      </p:sp>
      <p:pic>
        <p:nvPicPr>
          <p:cNvPr id="99" name="Google Shape;99;p6"/>
          <p:cNvPicPr preferRelativeResize="0"/>
          <p:nvPr/>
        </p:nvPicPr>
        <p:blipFill rotWithShape="1">
          <a:blip r:embed="rId1"/>
          <a:srcRect/>
          <a:stretch>
            <a:fillRect/>
          </a:stretch>
        </p:blipFill>
        <p:spPr>
          <a:xfrm>
            <a:off x="0" y="3"/>
            <a:ext cx="762558" cy="762395"/>
          </a:xfrm>
          <a:prstGeom prst="rect">
            <a:avLst/>
          </a:prstGeom>
          <a:noFill/>
          <a:ln>
            <a:noFill/>
          </a:ln>
        </p:spPr>
      </p:pic>
      <p:pic>
        <p:nvPicPr>
          <p:cNvPr id="100" name="Google Shape;100;p6"/>
          <p:cNvPicPr preferRelativeResize="0"/>
          <p:nvPr/>
        </p:nvPicPr>
        <p:blipFill rotWithShape="1">
          <a:blip r:embed="rId2"/>
          <a:srcRect/>
          <a:stretch>
            <a:fillRect/>
          </a:stretch>
        </p:blipFill>
        <p:spPr>
          <a:xfrm>
            <a:off x="8319030" y="6"/>
            <a:ext cx="824970" cy="795591"/>
          </a:xfrm>
          <a:prstGeom prst="rect">
            <a:avLst/>
          </a:prstGeom>
          <a:noFill/>
          <a:ln>
            <a:noFill/>
          </a:ln>
        </p:spPr>
      </p:pic>
      <p:sp>
        <p:nvSpPr>
          <p:cNvPr id="3" name="TextBox 2"/>
          <p:cNvSpPr txBox="1"/>
          <p:nvPr/>
        </p:nvSpPr>
        <p:spPr>
          <a:xfrm>
            <a:off x="1725168" y="1682535"/>
            <a:ext cx="5260848" cy="369332"/>
          </a:xfrm>
          <a:prstGeom prst="rect">
            <a:avLst/>
          </a:prstGeom>
          <a:noFill/>
        </p:spPr>
        <p:txBody>
          <a:bodyPr wrap="square">
            <a:spAutoFit/>
          </a:bodyPr>
          <a:lstStyle/>
          <a:p>
            <a:pPr lvl="0" algn="ctr">
              <a:buSzPts val="1800"/>
            </a:pPr>
            <a:r>
              <a:rPr lang="en-US" sz="1800" u="sng" dirty="0">
                <a:solidFill>
                  <a:srgbClr val="3C78D8"/>
                </a:solidFill>
                <a:hlinkClick r:id="rId3"/>
              </a:rPr>
              <a:t>Literature Survey-R - Google Sheets</a:t>
            </a:r>
            <a:endParaRPr lang="en-US" sz="1800" dirty="0">
              <a:solidFill>
                <a:srgbClr val="3C78D8"/>
              </a:solidFill>
            </a:endParaRPr>
          </a:p>
        </p:txBody>
      </p:sp>
      <p:sp>
        <p:nvSpPr>
          <p:cNvPr id="9" name="TextBox 8"/>
          <p:cNvSpPr txBox="1"/>
          <p:nvPr/>
        </p:nvSpPr>
        <p:spPr>
          <a:xfrm>
            <a:off x="2167128" y="2414525"/>
            <a:ext cx="4572000" cy="923330"/>
          </a:xfrm>
          <a:prstGeom prst="rect">
            <a:avLst/>
          </a:prstGeom>
          <a:noFill/>
        </p:spPr>
        <p:txBody>
          <a:bodyPr wrap="square">
            <a:spAutoFit/>
          </a:bodyPr>
          <a:lstStyle/>
          <a:p>
            <a:pPr lvl="0" algn="ctr">
              <a:buSzPts val="2000"/>
            </a:pPr>
            <a:r>
              <a:rPr lang="en-US" sz="1800" u="sng" dirty="0">
                <a:solidFill>
                  <a:srgbClr val="3C78D8"/>
                </a:solidFill>
              </a:rPr>
              <a:t>https://docs.google.com/spreadsheets/d/10Vi-aLxvQ_1YuG0tilQm-xQP-DYk0tl-wfYqgoGO4xk/edit?usp=drivesdk</a:t>
            </a:r>
            <a:endParaRPr lang="en-US" sz="1800" dirty="0">
              <a:solidFill>
                <a:schemeClr val="dk1"/>
              </a:solidFill>
              <a:latin typeface="Gill Sans"/>
              <a:ea typeface="Gill Sans"/>
              <a:cs typeface="Gill Sans"/>
              <a:sym typeface="Gill Sans"/>
            </a:endParaRPr>
          </a:p>
        </p:txBody>
      </p:sp>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7"/>
          <p:cNvSpPr txBox="1">
            <a:spLocks noGrp="1"/>
          </p:cNvSpPr>
          <p:nvPr>
            <p:ph type="title"/>
          </p:nvPr>
        </p:nvSpPr>
        <p:spPr>
          <a:xfrm>
            <a:off x="311700" y="2766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000"/>
              <a:buNone/>
            </a:pPr>
            <a:r>
              <a:rPr lang="en-US" b="1" dirty="0">
                <a:solidFill>
                  <a:schemeClr val="tx1"/>
                </a:solidFill>
                <a:latin typeface="Times New Roman" panose="02020603050405020304" pitchFamily="18" charset="0"/>
                <a:cs typeface="Times New Roman" panose="02020603050405020304" pitchFamily="18" charset="0"/>
              </a:rPr>
              <a:t>METHODOLOGY</a:t>
            </a:r>
            <a:br>
              <a:rPr lang="en-US" dirty="0">
                <a:solidFill>
                  <a:srgbClr val="990000"/>
                </a:solidFill>
                <a:latin typeface="Calibri" panose="020F0502020204030204"/>
                <a:ea typeface="Calibri" panose="020F0502020204030204"/>
                <a:cs typeface="Calibri" panose="020F0502020204030204"/>
                <a:sym typeface="Calibri" panose="020F0502020204030204"/>
              </a:rPr>
            </a:br>
            <a:endParaRPr dirty="0"/>
          </a:p>
        </p:txBody>
      </p:sp>
      <p:sp>
        <p:nvSpPr>
          <p:cNvPr id="107" name="Google Shape;107;p7"/>
          <p:cNvSpPr txBox="1">
            <a:spLocks noGrp="1"/>
          </p:cNvSpPr>
          <p:nvPr>
            <p:ph type="body" idx="1"/>
          </p:nvPr>
        </p:nvSpPr>
        <p:spPr>
          <a:xfrm>
            <a:off x="311700" y="1397621"/>
            <a:ext cx="8520600" cy="3171254"/>
          </a:xfrm>
          <a:prstGeom prst="rect">
            <a:avLst/>
          </a:prstGeom>
          <a:noFill/>
          <a:ln>
            <a:noFill/>
          </a:ln>
        </p:spPr>
        <p:txBody>
          <a:bodyPr spcFirstLastPara="1" wrap="square" lIns="91425" tIns="91425" rIns="91425" bIns="91425" anchor="t" anchorCtr="0">
            <a:normAutofit fontScale="92500"/>
          </a:bodyPr>
          <a:lstStyle/>
          <a:p>
            <a:pPr marL="101600" lvl="0" indent="0" algn="just">
              <a:lnSpc>
                <a:spcPct val="150000"/>
              </a:lnSpc>
              <a:buSzPts val="2000"/>
              <a:buNone/>
            </a:pPr>
            <a:r>
              <a:rPr lang="en-US" sz="2400" b="1" dirty="0">
                <a:solidFill>
                  <a:schemeClr val="tx1"/>
                </a:solidFill>
                <a:latin typeface="Times New Roman" panose="02020603050405020304" pitchFamily="18" charset="0"/>
                <a:cs typeface="Times New Roman" panose="02020603050405020304" pitchFamily="18" charset="0"/>
              </a:rPr>
              <a:t>1.  Descriptive Statistics Algorithm</a:t>
            </a:r>
            <a:r>
              <a:rPr lang="en-US" sz="2400" dirty="0">
                <a:solidFill>
                  <a:schemeClr val="tx1"/>
                </a:solidFill>
                <a:latin typeface="Times New Roman" panose="02020603050405020304" pitchFamily="18" charset="0"/>
                <a:cs typeface="Times New Roman" panose="02020603050405020304" pitchFamily="18" charset="0"/>
              </a:rPr>
              <a:t> - summary(), mean(), </a:t>
            </a:r>
            <a:r>
              <a:rPr lang="en-US" sz="2400" dirty="0" err="1">
                <a:solidFill>
                  <a:schemeClr val="tx1"/>
                </a:solidFill>
                <a:latin typeface="Times New Roman" panose="02020603050405020304" pitchFamily="18" charset="0"/>
                <a:cs typeface="Times New Roman" panose="02020603050405020304" pitchFamily="18" charset="0"/>
              </a:rPr>
              <a:t>sd</a:t>
            </a:r>
            <a:r>
              <a:rPr lang="en-US" sz="2400" dirty="0">
                <a:solidFill>
                  <a:schemeClr val="tx1"/>
                </a:solidFill>
                <a:latin typeface="Times New Roman" panose="02020603050405020304" pitchFamily="18" charset="0"/>
                <a:cs typeface="Times New Roman" panose="02020603050405020304" pitchFamily="18" charset="0"/>
              </a:rPr>
              <a:t>()</a:t>
            </a:r>
            <a:endParaRPr lang="en-US" sz="2400" dirty="0">
              <a:solidFill>
                <a:schemeClr val="tx1"/>
              </a:solidFill>
              <a:latin typeface="Times New Roman" panose="02020603050405020304" pitchFamily="18" charset="0"/>
              <a:cs typeface="Times New Roman" panose="02020603050405020304" pitchFamily="18" charset="0"/>
            </a:endParaRPr>
          </a:p>
          <a:p>
            <a:pPr lvl="0" indent="-355600" algn="just">
              <a:lnSpc>
                <a:spcPct val="150000"/>
              </a:lnSpc>
              <a:buSzPts val="2000"/>
            </a:pPr>
            <a:r>
              <a:rPr lang="en-US" sz="2400" dirty="0">
                <a:solidFill>
                  <a:schemeClr val="tx1"/>
                </a:solidFill>
                <a:latin typeface="Times New Roman" panose="02020603050405020304" pitchFamily="18" charset="0"/>
                <a:cs typeface="Times New Roman" panose="02020603050405020304" pitchFamily="18" charset="0"/>
              </a:rPr>
              <a:t>This algorithm summarizes the basic features of screen time and sleep duration data.</a:t>
            </a:r>
            <a:endParaRPr lang="en-US" sz="2400" dirty="0">
              <a:solidFill>
                <a:schemeClr val="tx1"/>
              </a:solidFill>
              <a:latin typeface="Times New Roman" panose="02020603050405020304" pitchFamily="18" charset="0"/>
              <a:cs typeface="Times New Roman" panose="02020603050405020304" pitchFamily="18" charset="0"/>
            </a:endParaRPr>
          </a:p>
          <a:p>
            <a:pPr lvl="0" indent="-355600" algn="just">
              <a:lnSpc>
                <a:spcPct val="150000"/>
              </a:lnSpc>
              <a:buSzPts val="2000"/>
            </a:pPr>
            <a:r>
              <a:rPr lang="en-US" sz="2400" dirty="0">
                <a:solidFill>
                  <a:schemeClr val="tx1"/>
                </a:solidFill>
                <a:latin typeface="Times New Roman" panose="02020603050405020304" pitchFamily="18" charset="0"/>
                <a:cs typeface="Times New Roman" panose="02020603050405020304" pitchFamily="18" charset="0"/>
              </a:rPr>
              <a:t>It calculates mean screen exposure hours and average sleep hours.</a:t>
            </a:r>
            <a:endParaRPr lang="en-US" sz="2400" dirty="0">
              <a:solidFill>
                <a:schemeClr val="tx1"/>
              </a:solidFill>
              <a:latin typeface="Times New Roman" panose="02020603050405020304" pitchFamily="18" charset="0"/>
              <a:cs typeface="Times New Roman" panose="02020603050405020304" pitchFamily="18" charset="0"/>
            </a:endParaRPr>
          </a:p>
          <a:p>
            <a:pPr lvl="0" indent="-355600" algn="just">
              <a:lnSpc>
                <a:spcPct val="150000"/>
              </a:lnSpc>
              <a:buSzPts val="2000"/>
            </a:pPr>
            <a:r>
              <a:rPr lang="en-US" sz="2400" dirty="0">
                <a:solidFill>
                  <a:schemeClr val="tx1"/>
                </a:solidFill>
                <a:latin typeface="Times New Roman" panose="02020603050405020304" pitchFamily="18" charset="0"/>
                <a:cs typeface="Times New Roman" panose="02020603050405020304" pitchFamily="18" charset="0"/>
              </a:rPr>
              <a:t>It helps understand overall trends before deeper analysis.</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108" name="Google Shape;108;p7"/>
          <p:cNvPicPr preferRelativeResize="0"/>
          <p:nvPr/>
        </p:nvPicPr>
        <p:blipFill rotWithShape="1">
          <a:blip r:embed="rId1"/>
          <a:srcRect/>
          <a:stretch>
            <a:fillRect/>
          </a:stretch>
        </p:blipFill>
        <p:spPr>
          <a:xfrm>
            <a:off x="401443" y="255331"/>
            <a:ext cx="654206" cy="604088"/>
          </a:xfrm>
          <a:prstGeom prst="rect">
            <a:avLst/>
          </a:prstGeom>
          <a:noFill/>
          <a:ln>
            <a:noFill/>
          </a:ln>
        </p:spPr>
      </p:pic>
      <p:pic>
        <p:nvPicPr>
          <p:cNvPr id="109" name="Google Shape;109;p7"/>
          <p:cNvPicPr preferRelativeResize="0"/>
          <p:nvPr/>
        </p:nvPicPr>
        <p:blipFill rotWithShape="1">
          <a:blip r:embed="rId2"/>
          <a:srcRect/>
          <a:stretch>
            <a:fillRect/>
          </a:stretch>
        </p:blipFill>
        <p:spPr>
          <a:xfrm>
            <a:off x="8178093" y="301976"/>
            <a:ext cx="654207" cy="510798"/>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8"/>
          <p:cNvSpPr txBox="1">
            <a:spLocks noGrp="1"/>
          </p:cNvSpPr>
          <p:nvPr>
            <p:ph type="title"/>
          </p:nvPr>
        </p:nvSpPr>
        <p:spPr>
          <a:xfrm>
            <a:off x="311700" y="276609"/>
            <a:ext cx="8520600" cy="572700"/>
          </a:xfrm>
          <a:prstGeom prst="rect">
            <a:avLst/>
          </a:prstGeom>
          <a:noFill/>
          <a:ln>
            <a:noFill/>
          </a:ln>
        </p:spPr>
        <p:txBody>
          <a:bodyPr spcFirstLastPara="1" wrap="square" lIns="91425" tIns="91425" rIns="91425" bIns="91425" anchor="t" anchorCtr="0">
            <a:normAutofit fontScale="90000"/>
          </a:bodyPr>
          <a:lstStyle/>
          <a:p>
            <a:pPr lvl="0" algn="ctr">
              <a:buSzPct val="111000"/>
            </a:pPr>
            <a:r>
              <a:rPr lang="en-US" b="1" dirty="0">
                <a:solidFill>
                  <a:schemeClr val="tx1"/>
                </a:solidFill>
                <a:latin typeface="Times New Roman" panose="02020603050405020304" pitchFamily="18" charset="0"/>
                <a:cs typeface="Times New Roman" panose="02020603050405020304" pitchFamily="18" charset="0"/>
              </a:rPr>
              <a:t>METHODOLOGY</a:t>
            </a:r>
            <a:br>
              <a:rPr lang="en-US" dirty="0">
                <a:solidFill>
                  <a:srgbClr val="990000"/>
                </a:solidFill>
                <a:latin typeface="Calibri" panose="020F0502020204030204"/>
                <a:ea typeface="Calibri" panose="020F0502020204030204"/>
                <a:cs typeface="Calibri" panose="020F0502020204030204"/>
                <a:sym typeface="Calibri" panose="020F0502020204030204"/>
              </a:rPr>
            </a:br>
            <a:endParaRPr dirty="0"/>
          </a:p>
        </p:txBody>
      </p:sp>
      <p:sp>
        <p:nvSpPr>
          <p:cNvPr id="115" name="Google Shape;115;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just">
              <a:lnSpc>
                <a:spcPct val="150000"/>
              </a:lnSpc>
              <a:buNone/>
            </a:pPr>
            <a:r>
              <a:rPr lang="en-US" sz="2160" b="1" dirty="0">
                <a:solidFill>
                  <a:schemeClr val="tx1"/>
                </a:solidFill>
                <a:latin typeface="Times New Roman" panose="02020603050405020304" pitchFamily="18" charset="0"/>
                <a:cs typeface="Times New Roman" panose="02020603050405020304" pitchFamily="18" charset="0"/>
              </a:rPr>
              <a:t>2.    Pearson Correlation Algorithm</a:t>
            </a:r>
            <a:r>
              <a:rPr lang="en-US" sz="2160" dirty="0">
                <a:solidFill>
                  <a:schemeClr val="tx1"/>
                </a:solidFill>
                <a:latin typeface="Times New Roman" panose="02020603050405020304" pitchFamily="18" charset="0"/>
                <a:cs typeface="Times New Roman" panose="02020603050405020304" pitchFamily="18" charset="0"/>
              </a:rPr>
              <a:t> – </a:t>
            </a:r>
            <a:r>
              <a:rPr lang="en-US" sz="2160" dirty="0" err="1">
                <a:solidFill>
                  <a:schemeClr val="tx1"/>
                </a:solidFill>
                <a:latin typeface="Times New Roman" panose="02020603050405020304" pitchFamily="18" charset="0"/>
                <a:cs typeface="Times New Roman" panose="02020603050405020304" pitchFamily="18" charset="0"/>
              </a:rPr>
              <a:t>cor</a:t>
            </a:r>
            <a:r>
              <a:rPr lang="en-US" sz="2160" dirty="0">
                <a:solidFill>
                  <a:schemeClr val="tx1"/>
                </a:solidFill>
                <a:latin typeface="Times New Roman" panose="02020603050405020304" pitchFamily="18" charset="0"/>
                <a:cs typeface="Times New Roman" panose="02020603050405020304" pitchFamily="18" charset="0"/>
              </a:rPr>
              <a:t>()</a:t>
            </a:r>
            <a:endParaRPr lang="en-US" sz="2160" dirty="0">
              <a:solidFill>
                <a:schemeClr val="tx1"/>
              </a:solidFill>
              <a:latin typeface="Times New Roman" panose="02020603050405020304" pitchFamily="18" charset="0"/>
              <a:cs typeface="Times New Roman" panose="02020603050405020304" pitchFamily="18" charset="0"/>
            </a:endParaRPr>
          </a:p>
          <a:p>
            <a:pPr lvl="0" indent="-355600" algn="just">
              <a:lnSpc>
                <a:spcPct val="150000"/>
              </a:lnSpc>
              <a:buSzPts val="2000"/>
            </a:pPr>
            <a:r>
              <a:rPr lang="en-US" sz="2160" dirty="0">
                <a:solidFill>
                  <a:schemeClr val="tx1"/>
                </a:solidFill>
                <a:latin typeface="Times New Roman" panose="02020603050405020304" pitchFamily="18" charset="0"/>
                <a:cs typeface="Times New Roman" panose="02020603050405020304" pitchFamily="18" charset="0"/>
              </a:rPr>
              <a:t>This algorithm measures the relationship between daily screen time and sleep duration.</a:t>
            </a:r>
            <a:endParaRPr lang="en-US" sz="2160" dirty="0">
              <a:solidFill>
                <a:schemeClr val="tx1"/>
              </a:solidFill>
              <a:latin typeface="Times New Roman" panose="02020603050405020304" pitchFamily="18" charset="0"/>
              <a:cs typeface="Times New Roman" panose="02020603050405020304" pitchFamily="18" charset="0"/>
            </a:endParaRPr>
          </a:p>
          <a:p>
            <a:pPr lvl="0" indent="-355600" algn="just">
              <a:lnSpc>
                <a:spcPct val="150000"/>
              </a:lnSpc>
              <a:buSzPts val="2000"/>
            </a:pPr>
            <a:r>
              <a:rPr lang="en-US" sz="2160" dirty="0">
                <a:solidFill>
                  <a:schemeClr val="tx1"/>
                </a:solidFill>
                <a:latin typeface="Times New Roman" panose="02020603050405020304" pitchFamily="18" charset="0"/>
                <a:cs typeface="Times New Roman" panose="02020603050405020304" pitchFamily="18" charset="0"/>
              </a:rPr>
              <a:t>It gives a value between -1 and +1 to show strength and direction.</a:t>
            </a:r>
            <a:endParaRPr lang="en-US" sz="2160" dirty="0">
              <a:solidFill>
                <a:schemeClr val="tx1"/>
              </a:solidFill>
              <a:latin typeface="Times New Roman" panose="02020603050405020304" pitchFamily="18" charset="0"/>
              <a:cs typeface="Times New Roman" panose="02020603050405020304" pitchFamily="18" charset="0"/>
            </a:endParaRPr>
          </a:p>
          <a:p>
            <a:pPr lvl="0" indent="-355600" algn="just">
              <a:lnSpc>
                <a:spcPct val="150000"/>
              </a:lnSpc>
              <a:buSzPts val="2000"/>
            </a:pPr>
            <a:r>
              <a:rPr lang="en-US" sz="2160" dirty="0">
                <a:solidFill>
                  <a:schemeClr val="tx1"/>
                </a:solidFill>
                <a:latin typeface="Times New Roman" panose="02020603050405020304" pitchFamily="18" charset="0"/>
                <a:cs typeface="Times New Roman" panose="02020603050405020304" pitchFamily="18" charset="0"/>
              </a:rPr>
              <a:t>A negative value indicates that higher screen time reduces sleep hours.</a:t>
            </a:r>
            <a:endParaRPr lang="en-US" sz="2160" dirty="0">
              <a:solidFill>
                <a:schemeClr val="tx1"/>
              </a:solidFill>
              <a:latin typeface="Times New Roman" panose="02020603050405020304" pitchFamily="18" charset="0"/>
              <a:cs typeface="Times New Roman" panose="02020603050405020304" pitchFamily="18" charset="0"/>
            </a:endParaRPr>
          </a:p>
        </p:txBody>
      </p:sp>
      <p:pic>
        <p:nvPicPr>
          <p:cNvPr id="116" name="Google Shape;116;p8"/>
          <p:cNvPicPr preferRelativeResize="0"/>
          <p:nvPr/>
        </p:nvPicPr>
        <p:blipFill rotWithShape="1">
          <a:blip r:embed="rId1"/>
          <a:srcRect/>
          <a:stretch>
            <a:fillRect/>
          </a:stretch>
        </p:blipFill>
        <p:spPr>
          <a:xfrm>
            <a:off x="401443" y="255331"/>
            <a:ext cx="654206" cy="604088"/>
          </a:xfrm>
          <a:prstGeom prst="rect">
            <a:avLst/>
          </a:prstGeom>
          <a:noFill/>
          <a:ln>
            <a:noFill/>
          </a:ln>
        </p:spPr>
      </p:pic>
      <p:pic>
        <p:nvPicPr>
          <p:cNvPr id="117" name="Google Shape;117;p8"/>
          <p:cNvPicPr preferRelativeResize="0"/>
          <p:nvPr/>
        </p:nvPicPr>
        <p:blipFill rotWithShape="1">
          <a:blip r:embed="rId2"/>
          <a:srcRect/>
          <a:stretch>
            <a:fillRect/>
          </a:stretch>
        </p:blipFill>
        <p:spPr>
          <a:xfrm>
            <a:off x="8178093" y="301976"/>
            <a:ext cx="654207" cy="510798"/>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9"/>
          <p:cNvSpPr txBox="1">
            <a:spLocks noGrp="1"/>
          </p:cNvSpPr>
          <p:nvPr>
            <p:ph type="title"/>
          </p:nvPr>
        </p:nvSpPr>
        <p:spPr>
          <a:xfrm>
            <a:off x="311700" y="276609"/>
            <a:ext cx="8520600" cy="572700"/>
          </a:xfrm>
          <a:prstGeom prst="rect">
            <a:avLst/>
          </a:prstGeom>
          <a:noFill/>
          <a:ln>
            <a:noFill/>
          </a:ln>
        </p:spPr>
        <p:txBody>
          <a:bodyPr spcFirstLastPara="1" wrap="square" lIns="91425" tIns="91425" rIns="91425" bIns="91425" anchor="t" anchorCtr="0">
            <a:normAutofit fontScale="90000"/>
          </a:bodyPr>
          <a:lstStyle/>
          <a:p>
            <a:pPr lvl="0" algn="ctr">
              <a:buSzPct val="111000"/>
            </a:pPr>
            <a:r>
              <a:rPr lang="en-US" b="1" dirty="0">
                <a:solidFill>
                  <a:schemeClr val="tx1"/>
                </a:solidFill>
                <a:latin typeface="Times New Roman" panose="02020603050405020304" pitchFamily="18" charset="0"/>
                <a:cs typeface="Times New Roman" panose="02020603050405020304" pitchFamily="18" charset="0"/>
              </a:rPr>
              <a:t>METHODOLOGY</a:t>
            </a:r>
            <a:br>
              <a:rPr lang="en-US" dirty="0">
                <a:solidFill>
                  <a:srgbClr val="990000"/>
                </a:solidFill>
                <a:latin typeface="Calibri" panose="020F0502020204030204"/>
                <a:ea typeface="Calibri" panose="020F0502020204030204"/>
                <a:cs typeface="Calibri" panose="020F0502020204030204"/>
                <a:sym typeface="Calibri" panose="020F0502020204030204"/>
              </a:rPr>
            </a:br>
            <a:endParaRPr dirty="0"/>
          </a:p>
        </p:txBody>
      </p:sp>
      <p:sp>
        <p:nvSpPr>
          <p:cNvPr id="123" name="Google Shape;123;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nSpc>
                <a:spcPct val="150000"/>
              </a:lnSpc>
              <a:buNone/>
            </a:pPr>
            <a:r>
              <a:rPr lang="en-US" sz="2000" b="1" dirty="0">
                <a:solidFill>
                  <a:schemeClr val="tx1"/>
                </a:solidFill>
                <a:latin typeface="Times New Roman" panose="02020603050405020304" pitchFamily="18" charset="0"/>
                <a:cs typeface="Times New Roman" panose="02020603050405020304" pitchFamily="18" charset="0"/>
              </a:rPr>
              <a:t>3.</a:t>
            </a:r>
            <a:r>
              <a:rPr lang="en-US" sz="2000" dirty="0">
                <a:solidFill>
                  <a:schemeClr val="tx1"/>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Linear Regression Algorithm</a:t>
            </a:r>
            <a:r>
              <a:rPr lang="en-US" sz="2000" dirty="0">
                <a:solidFill>
                  <a:schemeClr val="tx1"/>
                </a:solidFill>
                <a:latin typeface="Times New Roman" panose="02020603050405020304" pitchFamily="18" charset="0"/>
                <a:cs typeface="Times New Roman" panose="02020603050405020304" pitchFamily="18" charset="0"/>
              </a:rPr>
              <a:t> – </a:t>
            </a:r>
            <a:r>
              <a:rPr lang="en-US" sz="2000" dirty="0" err="1">
                <a:solidFill>
                  <a:schemeClr val="tx1"/>
                </a:solidFill>
                <a:latin typeface="Times New Roman" panose="02020603050405020304" pitchFamily="18" charset="0"/>
                <a:cs typeface="Times New Roman" panose="02020603050405020304" pitchFamily="18" charset="0"/>
              </a:rPr>
              <a:t>lm</a:t>
            </a:r>
            <a:r>
              <a:rPr 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pPr lvl="0" indent="-355600">
              <a:lnSpc>
                <a:spcPct val="150000"/>
              </a:lnSpc>
              <a:buSzPts val="2000"/>
            </a:pPr>
            <a:r>
              <a:rPr lang="en-US" sz="2000" dirty="0">
                <a:solidFill>
                  <a:schemeClr val="tx1"/>
                </a:solidFill>
                <a:latin typeface="Times New Roman" panose="02020603050405020304" pitchFamily="18" charset="0"/>
                <a:cs typeface="Times New Roman" panose="02020603050405020304" pitchFamily="18" charset="0"/>
              </a:rPr>
              <a:t>This algorithm predicts sleep </a:t>
            </a:r>
            <a:r>
              <a:rPr lang="en-US" sz="2000" dirty="0" err="1">
                <a:solidFill>
                  <a:schemeClr val="tx1"/>
                </a:solidFill>
                <a:latin typeface="Times New Roman" panose="02020603050405020304" pitchFamily="18" charset="0"/>
                <a:cs typeface="Times New Roman" panose="02020603050405020304" pitchFamily="18" charset="0"/>
              </a:rPr>
              <a:t>behaviour</a:t>
            </a:r>
            <a:r>
              <a:rPr lang="en-US" sz="2000" dirty="0">
                <a:solidFill>
                  <a:schemeClr val="tx1"/>
                </a:solidFill>
                <a:latin typeface="Times New Roman" panose="02020603050405020304" pitchFamily="18" charset="0"/>
                <a:cs typeface="Times New Roman" panose="02020603050405020304" pitchFamily="18" charset="0"/>
              </a:rPr>
              <a:t> based on daily screen exposure.</a:t>
            </a:r>
            <a:endParaRPr lang="en-US" sz="2000" dirty="0">
              <a:solidFill>
                <a:schemeClr val="tx1"/>
              </a:solidFill>
              <a:latin typeface="Times New Roman" panose="02020603050405020304" pitchFamily="18" charset="0"/>
              <a:cs typeface="Times New Roman" panose="02020603050405020304" pitchFamily="18" charset="0"/>
            </a:endParaRPr>
          </a:p>
          <a:p>
            <a:pPr lvl="0" indent="-355600">
              <a:lnSpc>
                <a:spcPct val="150000"/>
              </a:lnSpc>
              <a:buSzPts val="2000"/>
            </a:pPr>
            <a:r>
              <a:rPr lang="en-US" sz="2000" dirty="0">
                <a:solidFill>
                  <a:schemeClr val="tx1"/>
                </a:solidFill>
                <a:latin typeface="Times New Roman" panose="02020603050405020304" pitchFamily="18" charset="0"/>
                <a:cs typeface="Times New Roman" panose="02020603050405020304" pitchFamily="18" charset="0"/>
              </a:rPr>
              <a:t>It creates a regression model to show how screen time affects sleep duration.</a:t>
            </a:r>
            <a:endParaRPr lang="en-US" sz="2000" dirty="0">
              <a:solidFill>
                <a:schemeClr val="tx1"/>
              </a:solidFill>
              <a:latin typeface="Times New Roman" panose="02020603050405020304" pitchFamily="18" charset="0"/>
              <a:cs typeface="Times New Roman" panose="02020603050405020304" pitchFamily="18" charset="0"/>
            </a:endParaRPr>
          </a:p>
          <a:p>
            <a:pPr lvl="0" indent="-355600">
              <a:lnSpc>
                <a:spcPct val="150000"/>
              </a:lnSpc>
              <a:buSzPts val="2000"/>
            </a:pPr>
            <a:r>
              <a:rPr lang="en-US" sz="2000" dirty="0">
                <a:solidFill>
                  <a:schemeClr val="tx1"/>
                </a:solidFill>
                <a:latin typeface="Times New Roman" panose="02020603050405020304" pitchFamily="18" charset="0"/>
                <a:cs typeface="Times New Roman" panose="02020603050405020304" pitchFamily="18" charset="0"/>
              </a:rPr>
              <a:t>It helps determine whether screen exposure significantly impacts sleep patterns.</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24" name="Google Shape;124;p9"/>
          <p:cNvPicPr preferRelativeResize="0"/>
          <p:nvPr/>
        </p:nvPicPr>
        <p:blipFill rotWithShape="1">
          <a:blip r:embed="rId1"/>
          <a:srcRect/>
          <a:stretch>
            <a:fillRect/>
          </a:stretch>
        </p:blipFill>
        <p:spPr>
          <a:xfrm>
            <a:off x="401443" y="255331"/>
            <a:ext cx="654206" cy="604088"/>
          </a:xfrm>
          <a:prstGeom prst="rect">
            <a:avLst/>
          </a:prstGeom>
          <a:noFill/>
          <a:ln>
            <a:noFill/>
          </a:ln>
        </p:spPr>
      </p:pic>
      <p:pic>
        <p:nvPicPr>
          <p:cNvPr id="125" name="Google Shape;125;p9"/>
          <p:cNvPicPr preferRelativeResize="0"/>
          <p:nvPr/>
        </p:nvPicPr>
        <p:blipFill rotWithShape="1">
          <a:blip r:embed="rId2"/>
          <a:srcRect/>
          <a:stretch>
            <a:fillRect/>
          </a:stretch>
        </p:blipFill>
        <p:spPr>
          <a:xfrm>
            <a:off x="8178093" y="301976"/>
            <a:ext cx="654207" cy="510798"/>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0"/>
          <p:cNvSpPr txBox="1">
            <a:spLocks noGrp="1"/>
          </p:cNvSpPr>
          <p:nvPr>
            <p:ph type="title"/>
          </p:nvPr>
        </p:nvSpPr>
        <p:spPr>
          <a:xfrm>
            <a:off x="646176" y="444500"/>
            <a:ext cx="8186674" cy="573088"/>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400" b="1" dirty="0">
                <a:solidFill>
                  <a:schemeClr val="tx1"/>
                </a:solidFill>
                <a:latin typeface="Times New Roman" panose="02020603050405020304" pitchFamily="18" charset="0"/>
                <a:cs typeface="Times New Roman" panose="02020603050405020304" pitchFamily="18" charset="0"/>
              </a:rPr>
              <a:t>HARDWARE AND SOFTWARE REQUIREMENTS</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132" name="Google Shape;132;p10"/>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33" name="Google Shape;133;p10"/>
          <p:cNvPicPr preferRelativeResize="0"/>
          <p:nvPr/>
        </p:nvPicPr>
        <p:blipFill rotWithShape="1">
          <a:blip r:embed="rId2"/>
          <a:srcRect/>
          <a:stretch>
            <a:fillRect/>
          </a:stretch>
        </p:blipFill>
        <p:spPr>
          <a:xfrm>
            <a:off x="8415337" y="375190"/>
            <a:ext cx="654050" cy="511175"/>
          </a:xfrm>
          <a:prstGeom prst="rect">
            <a:avLst/>
          </a:prstGeom>
          <a:noFill/>
          <a:ln>
            <a:noFill/>
          </a:ln>
        </p:spPr>
      </p:pic>
      <p:sp>
        <p:nvSpPr>
          <p:cNvPr id="2" name="Text Placeholder 1"/>
          <p:cNvSpPr>
            <a:spLocks noGrp="1" noChangeArrowheads="1"/>
          </p:cNvSpPr>
          <p:nvPr>
            <p:ph type="body" idx="1"/>
          </p:nvPr>
        </p:nvSpPr>
        <p:spPr bwMode="auto">
          <a:xfrm>
            <a:off x="646113" y="1090673"/>
            <a:ext cx="5211683"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US" altLang="en-US" sz="2400" b="1" dirty="0">
                <a:solidFill>
                  <a:schemeClr val="tx1"/>
                </a:solidFill>
                <a:latin typeface="Times New Roman" panose="02020603050405020304" pitchFamily="18" charset="0"/>
                <a:cs typeface="Times New Roman" panose="02020603050405020304" pitchFamily="18" charset="0"/>
              </a:rPr>
              <a:t>Hardware Requirements</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computer/laptop with minimum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GB RAM  </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 Intel i3 or above (or equivalent)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At least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 GB free space </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p:cNvSpPr txBox="1"/>
          <p:nvPr/>
        </p:nvSpPr>
        <p:spPr>
          <a:xfrm>
            <a:off x="646176" y="2618423"/>
            <a:ext cx="6559296" cy="169277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Software Requirements</a:t>
            </a:r>
            <a:endParaRPr lang="en-US" altLang="en-US" sz="2400" b="1"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programming language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RStudio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 (Windows / macOS / Linux)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IN" sz="2000" dirty="0">
                <a:latin typeface="Times New Roman" panose="02020603050405020304" pitchFamily="18" charset="0"/>
                <a:cs typeface="Times New Roman" panose="02020603050405020304" pitchFamily="18" charset="0"/>
              </a:rPr>
              <a:t>Required R packages (ggplot2, </a:t>
            </a:r>
            <a:r>
              <a:rPr lang="en-IN" sz="2000" dirty="0" err="1">
                <a:latin typeface="Times New Roman" panose="02020603050405020304" pitchFamily="18" charset="0"/>
                <a:cs typeface="Times New Roman" panose="02020603050405020304" pitchFamily="18" charset="0"/>
              </a:rPr>
              <a:t>dplyr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tidyverse</a:t>
            </a:r>
            <a:r>
              <a:rPr lang="en-IN" sz="2000" dirty="0">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1"/>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ARCHITECTURE DIAGRAM</a:t>
            </a:r>
            <a:endParaRPr sz="2800" dirty="0">
              <a:solidFill>
                <a:schemeClr val="tx1"/>
              </a:solidFill>
              <a:latin typeface="Times New Roman" panose="02020603050405020304" pitchFamily="18" charset="0"/>
              <a:cs typeface="Times New Roman" panose="02020603050405020304" pitchFamily="18" charset="0"/>
            </a:endParaRPr>
          </a:p>
        </p:txBody>
      </p:sp>
      <p:pic>
        <p:nvPicPr>
          <p:cNvPr id="140" name="Google Shape;140;p11"/>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41" name="Google Shape;141;p11"/>
          <p:cNvPicPr preferRelativeResize="0"/>
          <p:nvPr/>
        </p:nvPicPr>
        <p:blipFill rotWithShape="1">
          <a:blip r:embed="rId2"/>
          <a:srcRect/>
          <a:stretch>
            <a:fillRect/>
          </a:stretch>
        </p:blipFill>
        <p:spPr>
          <a:xfrm>
            <a:off x="8178800" y="301625"/>
            <a:ext cx="654050" cy="511175"/>
          </a:xfrm>
          <a:prstGeom prst="rect">
            <a:avLst/>
          </a:prstGeom>
          <a:noFill/>
          <a:ln>
            <a:noFill/>
          </a:ln>
        </p:spPr>
      </p:pic>
      <p:pic>
        <p:nvPicPr>
          <p:cNvPr id="2" name="Google Shape;164;p8"/>
          <p:cNvPicPr preferRelativeResize="0"/>
          <p:nvPr/>
        </p:nvPicPr>
        <p:blipFill rotWithShape="1">
          <a:blip r:embed="rId3"/>
          <a:srcRect/>
          <a:stretch>
            <a:fillRect/>
          </a:stretch>
        </p:blipFill>
        <p:spPr>
          <a:xfrm>
            <a:off x="2199284" y="1017588"/>
            <a:ext cx="4964887" cy="3971925"/>
          </a:xfrm>
          <a:prstGeom prst="rect">
            <a:avLst/>
          </a:prstGeom>
          <a:noFill/>
          <a:ln>
            <a:noFill/>
          </a:ln>
        </p:spPr>
      </p:pic>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2"/>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MODULE DESCRIPTION</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47" name="Google Shape;147;p12"/>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rmAutofit/>
          </a:bodyPr>
          <a:lstStyle/>
          <a:p>
            <a:pPr marL="0" lvl="0" indent="0">
              <a:lnSpc>
                <a:spcPct val="150000"/>
              </a:lnSpc>
              <a:buClr>
                <a:schemeClr val="dk1"/>
              </a:buClr>
              <a:buNone/>
            </a:pPr>
            <a:r>
              <a:rPr lang="en-US" sz="2000" dirty="0">
                <a:solidFill>
                  <a:schemeClr val="tx1"/>
                </a:solidFill>
                <a:latin typeface="Times New Roman" panose="02020603050405020304" pitchFamily="18" charset="0"/>
                <a:cs typeface="Times New Roman" panose="02020603050405020304" pitchFamily="18" charset="0"/>
              </a:rPr>
              <a:t>1. Participant Profiling Module</a:t>
            </a:r>
            <a:endParaRPr lang="en-US" sz="2000" dirty="0">
              <a:solidFill>
                <a:schemeClr val="tx1"/>
              </a:solidFill>
              <a:latin typeface="Times New Roman" panose="02020603050405020304" pitchFamily="18" charset="0"/>
              <a:cs typeface="Times New Roman" panose="02020603050405020304" pitchFamily="18" charset="0"/>
            </a:endParaRPr>
          </a:p>
          <a:p>
            <a:pPr marL="0" lvl="0" indent="0">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2. Digital Exposure Assessment Module</a:t>
            </a:r>
            <a:endParaRPr lang="en-US" sz="2000" dirty="0">
              <a:solidFill>
                <a:schemeClr val="tx1"/>
              </a:solidFill>
              <a:latin typeface="Times New Roman" panose="02020603050405020304" pitchFamily="18" charset="0"/>
              <a:cs typeface="Times New Roman" panose="02020603050405020304" pitchFamily="18" charset="0"/>
            </a:endParaRPr>
          </a:p>
          <a:p>
            <a:pPr marL="0" lvl="0" indent="0">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3. Sleep Behavior Analysis Module</a:t>
            </a:r>
            <a:endParaRPr lang="en-US" sz="2000" dirty="0">
              <a:solidFill>
                <a:schemeClr val="tx1"/>
              </a:solidFill>
              <a:latin typeface="Times New Roman" panose="02020603050405020304" pitchFamily="18" charset="0"/>
              <a:cs typeface="Times New Roman" panose="02020603050405020304" pitchFamily="18" charset="0"/>
            </a:endParaRPr>
          </a:p>
          <a:p>
            <a:pPr marL="0" lvl="0" indent="0">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4. Statistical Analysis Module</a:t>
            </a:r>
            <a:endParaRPr lang="en-US" sz="2000" dirty="0">
              <a:solidFill>
                <a:schemeClr val="tx1"/>
              </a:solidFill>
              <a:latin typeface="Times New Roman" panose="02020603050405020304" pitchFamily="18" charset="0"/>
              <a:cs typeface="Times New Roman" panose="02020603050405020304" pitchFamily="18" charset="0"/>
            </a:endParaRPr>
          </a:p>
          <a:p>
            <a:pPr marL="0" lvl="0" indent="0">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5. Visualization and Reporting Module</a:t>
            </a:r>
            <a:endParaRPr lang="en-US" sz="2000" dirty="0">
              <a:solidFill>
                <a:schemeClr val="tx1"/>
              </a:solidFill>
              <a:latin typeface="Times New Roman" panose="02020603050405020304" pitchFamily="18" charset="0"/>
              <a:cs typeface="Times New Roman" panose="02020603050405020304" pitchFamily="18" charset="0"/>
            </a:endParaRPr>
          </a:p>
          <a:p>
            <a:pPr marL="0" lvl="0" indent="0">
              <a:lnSpc>
                <a:spcPct val="150000"/>
              </a:lnSpc>
              <a:buClr>
                <a:schemeClr val="dk1"/>
              </a:buClr>
              <a:buSzPts val="1100"/>
              <a:buNone/>
            </a:pPr>
            <a:r>
              <a:rPr lang="en-US" sz="2000" dirty="0">
                <a:solidFill>
                  <a:schemeClr val="tx1"/>
                </a:solidFill>
                <a:latin typeface="Times New Roman" panose="02020603050405020304" pitchFamily="18" charset="0"/>
                <a:cs typeface="Times New Roman" panose="02020603050405020304" pitchFamily="18" charset="0"/>
              </a:rPr>
              <a:t>6. Notification Impact Module</a:t>
            </a:r>
            <a:endParaRPr lang="en-US" sz="2000" dirty="0">
              <a:solidFill>
                <a:schemeClr val="tx1"/>
              </a:solidFill>
              <a:latin typeface="Times New Roman" panose="02020603050405020304" pitchFamily="18" charset="0"/>
              <a:cs typeface="Times New Roman" panose="02020603050405020304" pitchFamily="18" charset="0"/>
            </a:endParaRPr>
          </a:p>
          <a:p>
            <a:pPr marL="114300" lvl="0" indent="0" algn="l" rtl="0">
              <a:lnSpc>
                <a:spcPct val="115000"/>
              </a:lnSpc>
              <a:spcBef>
                <a:spcPts val="0"/>
              </a:spcBef>
              <a:spcAft>
                <a:spcPts val="0"/>
              </a:spcAft>
              <a:buClr>
                <a:srgbClr val="595959"/>
              </a:buClr>
              <a:buSzPts val="1800"/>
              <a:buNone/>
            </a:pPr>
            <a:endParaRPr lang="en-US" sz="2000" dirty="0">
              <a:solidFill>
                <a:schemeClr val="tx1"/>
              </a:solidFill>
              <a:latin typeface="Times New Roman" panose="02020603050405020304" pitchFamily="18" charset="0"/>
              <a:ea typeface="Arial" panose="020B0604020202020204"/>
              <a:cs typeface="Times New Roman" panose="02020603050405020304" pitchFamily="18" charset="0"/>
              <a:sym typeface="Arial" panose="020B0604020202020204"/>
            </a:endParaRPr>
          </a:p>
        </p:txBody>
      </p:sp>
      <p:pic>
        <p:nvPicPr>
          <p:cNvPr id="148" name="Google Shape;148;p12"/>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49" name="Google Shape;149;p12"/>
          <p:cNvPicPr preferRelativeResize="0"/>
          <p:nvPr/>
        </p:nvPicPr>
        <p:blipFill rotWithShape="1">
          <a:blip r:embed="rId2"/>
          <a:srcRect/>
          <a:stretch>
            <a:fillRect/>
          </a:stretch>
        </p:blipFill>
        <p:spPr>
          <a:xfrm>
            <a:off x="8178800" y="301625"/>
            <a:ext cx="654050" cy="511175"/>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3"/>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MODULE DESCRIPTION</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55" name="Google Shape;155;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rmAutofit/>
          </a:bodyPr>
          <a:lstStyle/>
          <a:p>
            <a:pPr marL="0" lvl="0" indent="0" algn="just">
              <a:lnSpc>
                <a:spcPct val="150000"/>
              </a:lnSpc>
              <a:buNone/>
            </a:pPr>
            <a:r>
              <a:rPr lang="en-US" sz="2000" b="1" dirty="0">
                <a:solidFill>
                  <a:schemeClr val="tx1"/>
                </a:solidFill>
                <a:latin typeface="Times New Roman" panose="02020603050405020304" pitchFamily="18" charset="0"/>
                <a:cs typeface="Times New Roman" panose="02020603050405020304" pitchFamily="18" charset="0"/>
              </a:rPr>
              <a:t>1. Participant Profiling Module</a:t>
            </a:r>
            <a:endParaRPr lang="en-US" sz="2000" b="1" dirty="0">
              <a:solidFill>
                <a:schemeClr val="tx1"/>
              </a:solidFill>
              <a:latin typeface="Times New Roman" panose="02020603050405020304" pitchFamily="18" charset="0"/>
              <a:cs typeface="Times New Roman" panose="02020603050405020304" pitchFamily="18" charset="0"/>
            </a:endParaRPr>
          </a:p>
          <a:p>
            <a:pPr marL="0" lvl="0" indent="0" algn="just">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This module collects and records the basic details of the participants involved in the study, such as age, gender, and occupation. These attributes help classify participants into different demographic groups. By organizing this information, the study can analyze how different groups respond to screen exposure and its effect on sleep </a:t>
            </a:r>
            <a:r>
              <a:rPr lang="en-US" sz="2000" dirty="0" err="1">
                <a:solidFill>
                  <a:schemeClr val="tx1"/>
                </a:solidFill>
                <a:latin typeface="Times New Roman" panose="02020603050405020304" pitchFamily="18" charset="0"/>
                <a:cs typeface="Times New Roman" panose="02020603050405020304" pitchFamily="18" charset="0"/>
              </a:rPr>
              <a:t>behaviour</a:t>
            </a:r>
            <a:r>
              <a:rPr 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56" name="Google Shape;156;p13"/>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57" name="Google Shape;157;p13"/>
          <p:cNvPicPr preferRelativeResize="0"/>
          <p:nvPr/>
        </p:nvPicPr>
        <p:blipFill rotWithShape="1">
          <a:blip r:embed="rId2"/>
          <a:srcRect/>
          <a:stretch>
            <a:fillRect/>
          </a:stretch>
        </p:blipFill>
        <p:spPr>
          <a:xfrm>
            <a:off x="8178800" y="301625"/>
            <a:ext cx="654050" cy="511175"/>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3"/>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MODULE DESCRIPTION</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55" name="Google Shape;155;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rmAutofit lnSpcReduction="20000"/>
          </a:bodyPr>
          <a:lstStyle/>
          <a:p>
            <a:pPr marL="0" lvl="0" indent="0" algn="just">
              <a:lnSpc>
                <a:spcPct val="150000"/>
              </a:lnSpc>
              <a:buNone/>
            </a:pPr>
            <a:r>
              <a:rPr lang="en-US" sz="2000" b="1" dirty="0">
                <a:solidFill>
                  <a:schemeClr val="tx1"/>
                </a:solidFill>
                <a:latin typeface="Times New Roman" panose="02020603050405020304" pitchFamily="18" charset="0"/>
                <a:cs typeface="Times New Roman" panose="02020603050405020304" pitchFamily="18" charset="0"/>
                <a:sym typeface="+mn-ea"/>
              </a:rPr>
              <a:t>2. Digital Exposure Assessment Module</a:t>
            </a:r>
            <a:endParaRPr lang="en-US" sz="2000" b="1" dirty="0">
              <a:solidFill>
                <a:schemeClr val="tx1"/>
              </a:solidFill>
              <a:latin typeface="Times New Roman" panose="02020603050405020304" pitchFamily="18" charset="0"/>
              <a:cs typeface="Times New Roman" panose="02020603050405020304" pitchFamily="18" charset="0"/>
            </a:endParaRPr>
          </a:p>
          <a:p>
            <a:pPr marL="0" lvl="0" indent="0" algn="just">
              <a:lnSpc>
                <a:spcPct val="150000"/>
              </a:lnSpc>
              <a:buNone/>
            </a:pPr>
            <a:r>
              <a:rPr lang="en-US" altLang="en-US" sz="2000" dirty="0">
                <a:solidFill>
                  <a:schemeClr val="tx1"/>
                </a:solidFill>
                <a:latin typeface="Times New Roman" panose="02020603050405020304" pitchFamily="18" charset="0"/>
                <a:cs typeface="Times New Roman" panose="02020603050405020304" pitchFamily="18" charset="0"/>
              </a:rPr>
              <a:t>The Digital Exposure Assessment Module measures the amount and pattern of daily screen usage across devices such as smartphones, laptops, and tablets. It tracks factors like total screen time, frequency of use, and exposure during critical periods such as before bedtime. Using R programming language, the module analyzes this data to identify trends and assess how varying levels of digital exposure may influence sleep behaviour and overall sleep quality.</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pic>
        <p:nvPicPr>
          <p:cNvPr id="156" name="Google Shape;156;p13"/>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57" name="Google Shape;157;p13"/>
          <p:cNvPicPr preferRelativeResize="0"/>
          <p:nvPr/>
        </p:nvPicPr>
        <p:blipFill rotWithShape="1">
          <a:blip r:embed="rId2"/>
          <a:srcRect/>
          <a:stretch>
            <a:fillRect/>
          </a:stretch>
        </p:blipFill>
        <p:spPr>
          <a:xfrm>
            <a:off x="8178800" y="301625"/>
            <a:ext cx="654050" cy="511175"/>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MODULE DESCRIPTION</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95" name="Google Shape;195;p18"/>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rmAutofit/>
          </a:bodyPr>
          <a:lstStyle/>
          <a:p>
            <a:pPr marL="0" lvl="0" indent="0" algn="just">
              <a:lnSpc>
                <a:spcPct val="150000"/>
              </a:lnSpc>
              <a:buNone/>
            </a:pPr>
            <a:r>
              <a:rPr lang="en-US" sz="2000" b="1" dirty="0">
                <a:solidFill>
                  <a:schemeClr val="tx1"/>
                </a:solidFill>
                <a:latin typeface="Times New Roman" panose="02020603050405020304" pitchFamily="18" charset="0"/>
                <a:cs typeface="Times New Roman" panose="02020603050405020304" pitchFamily="18" charset="0"/>
              </a:rPr>
              <a:t>3. Sleep Behavior Analysis Module</a:t>
            </a:r>
            <a:endParaRPr lang="en-US" sz="2000" dirty="0">
              <a:solidFill>
                <a:schemeClr val="tx1"/>
              </a:solidFill>
              <a:latin typeface="Times New Roman" panose="02020603050405020304" pitchFamily="18" charset="0"/>
              <a:cs typeface="Times New Roman" panose="02020603050405020304" pitchFamily="18" charset="0"/>
            </a:endParaRPr>
          </a:p>
          <a:p>
            <a:pPr marL="0" lvl="0" indent="0" algn="just">
              <a:lnSpc>
                <a:spcPct val="150000"/>
              </a:lnSpc>
              <a:buClr>
                <a:schemeClr val="dk1"/>
              </a:buClr>
              <a:buSzPts val="1100"/>
              <a:buNone/>
            </a:pPr>
            <a:r>
              <a:rPr lang="en-US" sz="2000" dirty="0">
                <a:solidFill>
                  <a:schemeClr val="tx1"/>
                </a:solidFill>
                <a:latin typeface="Times New Roman" panose="02020603050405020304" pitchFamily="18" charset="0"/>
                <a:cs typeface="Times New Roman" panose="02020603050405020304" pitchFamily="18" charset="0"/>
              </a:rPr>
              <a:t>This module examines sleep-related factors including sleep duration, sleep quality, and sleep patterns. It helps identify possible sleep disturbances caused by excessive screen usage. The analysis helps determine how digital exposure may influence healthy sleep </a:t>
            </a:r>
            <a:r>
              <a:rPr lang="en-US" sz="2000" dirty="0" err="1">
                <a:solidFill>
                  <a:schemeClr val="tx1"/>
                </a:solidFill>
                <a:latin typeface="Times New Roman" panose="02020603050405020304" pitchFamily="18" charset="0"/>
                <a:cs typeface="Times New Roman" panose="02020603050405020304" pitchFamily="18" charset="0"/>
              </a:rPr>
              <a:t>behaviour</a:t>
            </a:r>
            <a:r>
              <a:rPr lang="en-US" sz="2000" dirty="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96" name="Google Shape;196;p18"/>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97" name="Google Shape;197;p18"/>
          <p:cNvPicPr preferRelativeResize="0"/>
          <p:nvPr/>
        </p:nvPicPr>
        <p:blipFill rotWithShape="1">
          <a:blip r:embed="rId2"/>
          <a:srcRect/>
          <a:stretch>
            <a:fillRect/>
          </a:stretch>
        </p:blipFill>
        <p:spPr>
          <a:xfrm>
            <a:off x="8178800" y="301625"/>
            <a:ext cx="654050" cy="511175"/>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MODULE DESCRIPTION</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95" name="Google Shape;195;p18"/>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rmAutofit/>
          </a:bodyPr>
          <a:lstStyle/>
          <a:p>
            <a:pPr marL="0" lvl="0" indent="0" algn="just">
              <a:lnSpc>
                <a:spcPct val="150000"/>
              </a:lnSpc>
              <a:buClr>
                <a:schemeClr val="dk1"/>
              </a:buClr>
              <a:buNone/>
            </a:pPr>
            <a:r>
              <a:rPr lang="en-US" sz="2000" b="1" dirty="0">
                <a:solidFill>
                  <a:schemeClr val="tx1"/>
                </a:solidFill>
                <a:latin typeface="Times New Roman" panose="02020603050405020304" pitchFamily="18" charset="0"/>
                <a:cs typeface="Times New Roman" panose="02020603050405020304" pitchFamily="18" charset="0"/>
              </a:rPr>
              <a:t>4. Statistical Analysis Module</a:t>
            </a:r>
            <a:endParaRPr lang="en-US" sz="2000" b="1" dirty="0">
              <a:solidFill>
                <a:schemeClr val="tx1"/>
              </a:solidFill>
              <a:latin typeface="Times New Roman" panose="02020603050405020304" pitchFamily="18" charset="0"/>
              <a:cs typeface="Times New Roman" panose="02020603050405020304" pitchFamily="18" charset="0"/>
            </a:endParaRPr>
          </a:p>
          <a:p>
            <a:pPr marL="0" lvl="0" indent="0" algn="just">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This module applies statistical techniques to study the relationship between screen exposure and sleep </a:t>
            </a:r>
            <a:r>
              <a:rPr lang="en-US" sz="2000" dirty="0" err="1">
                <a:solidFill>
                  <a:schemeClr val="tx1"/>
                </a:solidFill>
                <a:latin typeface="Times New Roman" panose="02020603050405020304" pitchFamily="18" charset="0"/>
                <a:cs typeface="Times New Roman" panose="02020603050405020304" pitchFamily="18" charset="0"/>
              </a:rPr>
              <a:t>behaviour</a:t>
            </a:r>
            <a:r>
              <a:rPr lang="en-US" sz="2000" dirty="0">
                <a:solidFill>
                  <a:schemeClr val="tx1"/>
                </a:solidFill>
                <a:latin typeface="Times New Roman" panose="02020603050405020304" pitchFamily="18" charset="0"/>
                <a:cs typeface="Times New Roman" panose="02020603050405020304" pitchFamily="18" charset="0"/>
              </a:rPr>
              <a:t>. Methods such as correlation and regression analysis are used to evaluate the strength of the relationship between variables. The results help provide scientific evidence for the study.</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96" name="Google Shape;196;p18"/>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97" name="Google Shape;197;p18"/>
          <p:cNvPicPr preferRelativeResize="0"/>
          <p:nvPr/>
        </p:nvPicPr>
        <p:blipFill rotWithShape="1">
          <a:blip r:embed="rId2"/>
          <a:srcRect/>
          <a:stretch>
            <a:fillRect/>
          </a:stretch>
        </p:blipFill>
        <p:spPr>
          <a:xfrm>
            <a:off x="8178800" y="301625"/>
            <a:ext cx="654050" cy="511175"/>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MODULE DESCRIPTION</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95" name="Google Shape;195;p18"/>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rmAutofit/>
          </a:bodyPr>
          <a:lstStyle/>
          <a:p>
            <a:pPr marL="0" lvl="0" indent="0" algn="just">
              <a:lnSpc>
                <a:spcPct val="150000"/>
              </a:lnSpc>
              <a:buClr>
                <a:schemeClr val="dk1"/>
              </a:buClr>
              <a:buSzPts val="1100"/>
              <a:buNone/>
            </a:pPr>
            <a:r>
              <a:rPr lang="en-US" sz="2000" b="1" dirty="0">
                <a:solidFill>
                  <a:schemeClr val="tx1"/>
                </a:solidFill>
                <a:latin typeface="Times New Roman" panose="02020603050405020304" pitchFamily="18" charset="0"/>
                <a:cs typeface="Times New Roman" panose="02020603050405020304" pitchFamily="18" charset="0"/>
              </a:rPr>
              <a:t>5. Visualization and Reporting Module</a:t>
            </a:r>
            <a:endParaRPr lang="en-US" sz="2000" b="1" dirty="0">
              <a:solidFill>
                <a:schemeClr val="tx1"/>
              </a:solidFill>
              <a:latin typeface="Times New Roman" panose="02020603050405020304" pitchFamily="18" charset="0"/>
              <a:cs typeface="Times New Roman" panose="02020603050405020304" pitchFamily="18" charset="0"/>
            </a:endParaRPr>
          </a:p>
          <a:p>
            <a:pPr marL="0" lvl="0" indent="0" algn="just">
              <a:lnSpc>
                <a:spcPct val="150000"/>
              </a:lnSpc>
              <a:buClr>
                <a:schemeClr val="dk1"/>
              </a:buClr>
              <a:buSzPts val="1100"/>
              <a:buNone/>
            </a:pPr>
            <a:r>
              <a:rPr lang="en-US" sz="2000" dirty="0">
                <a:solidFill>
                  <a:schemeClr val="tx1"/>
                </a:solidFill>
                <a:latin typeface="Times New Roman" panose="02020603050405020304" pitchFamily="18" charset="0"/>
                <a:cs typeface="Times New Roman" panose="02020603050405020304" pitchFamily="18" charset="0"/>
              </a:rPr>
              <a:t>This module analyzes the influence of device notifications such as messages, calls, and alerts. Frequent notifications may interrupt sleep or delay bedtime. By studying notification patterns, the module helps understand how digital interruptions affect sleep quality.</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96" name="Google Shape;196;p18"/>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97" name="Google Shape;197;p18"/>
          <p:cNvPicPr preferRelativeResize="0"/>
          <p:nvPr/>
        </p:nvPicPr>
        <p:blipFill rotWithShape="1">
          <a:blip r:embed="rId2"/>
          <a:srcRect/>
          <a:stretch>
            <a:fillRect/>
          </a:stretch>
        </p:blipFill>
        <p:spPr>
          <a:xfrm>
            <a:off x="8178800" y="301625"/>
            <a:ext cx="654050" cy="511175"/>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MODULE DESCRIPTION</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95" name="Google Shape;195;p18"/>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rmAutofit lnSpcReduction="20000"/>
          </a:bodyPr>
          <a:lstStyle/>
          <a:p>
            <a:pPr marL="0" lvl="0" indent="0" algn="just">
              <a:lnSpc>
                <a:spcPct val="150000"/>
              </a:lnSpc>
              <a:buClr>
                <a:schemeClr val="dk1"/>
              </a:buClr>
              <a:buSzPts val="1100"/>
              <a:buNone/>
            </a:pPr>
            <a:r>
              <a:rPr lang="en-US" sz="2000" b="1" dirty="0">
                <a:solidFill>
                  <a:schemeClr val="tx1"/>
                </a:solidFill>
                <a:latin typeface="Times New Roman" panose="02020603050405020304" pitchFamily="18" charset="0"/>
                <a:cs typeface="Times New Roman" panose="02020603050405020304" pitchFamily="18" charset="0"/>
              </a:rPr>
              <a:t>6. Notification Impact Module</a:t>
            </a:r>
            <a:endParaRPr lang="en-US" sz="2000" b="1" dirty="0">
              <a:solidFill>
                <a:schemeClr val="tx1"/>
              </a:solidFill>
              <a:latin typeface="Times New Roman" panose="02020603050405020304" pitchFamily="18" charset="0"/>
              <a:cs typeface="Times New Roman" panose="02020603050405020304" pitchFamily="18" charset="0"/>
            </a:endParaRPr>
          </a:p>
          <a:p>
            <a:pPr marL="0" lvl="0" indent="0" algn="just">
              <a:lnSpc>
                <a:spcPct val="150000"/>
              </a:lnSpc>
              <a:buClr>
                <a:schemeClr val="dk1"/>
              </a:buClr>
              <a:buSzPts val="1100"/>
              <a:buNone/>
            </a:pPr>
            <a:r>
              <a:rPr lang="en-US" altLang="en-US" sz="2000" dirty="0">
                <a:solidFill>
                  <a:schemeClr val="tx1"/>
                </a:solidFill>
                <a:latin typeface="Times New Roman" panose="02020603050405020304" pitchFamily="18" charset="0"/>
                <a:cs typeface="Times New Roman" panose="02020603050405020304" pitchFamily="18" charset="0"/>
              </a:rPr>
              <a:t>The Notification Impact Module evaluates how frequent and late-night device notifications influence screen time and sleep behaviour. It considers factors like the number, timing, and type of notifications, and how users respond to them. By analyzing this data using R programming language, the module identifies patterns showing how notifications may lead to sleep disturbances, delayed sleep, or poor sleep quality.</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pic>
        <p:nvPicPr>
          <p:cNvPr id="196" name="Google Shape;196;p18"/>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197" name="Google Shape;197;p18"/>
          <p:cNvPicPr preferRelativeResize="0"/>
          <p:nvPr/>
        </p:nvPicPr>
        <p:blipFill rotWithShape="1">
          <a:blip r:embed="rId2"/>
          <a:srcRect/>
          <a:stretch>
            <a:fillRect/>
          </a:stretch>
        </p:blipFill>
        <p:spPr>
          <a:xfrm>
            <a:off x="8178800" y="301625"/>
            <a:ext cx="654050" cy="511175"/>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IMPLEMENTATION SCREENSHOTS</a:t>
            </a:r>
            <a:endParaRPr sz="2800" dirty="0">
              <a:solidFill>
                <a:schemeClr val="tx1"/>
              </a:solidFill>
              <a:latin typeface="Times New Roman" panose="02020603050405020304" pitchFamily="18" charset="0"/>
              <a:cs typeface="Times New Roman" panose="02020603050405020304" pitchFamily="18" charset="0"/>
            </a:endParaRPr>
          </a:p>
        </p:txBody>
      </p:sp>
      <p:pic>
        <p:nvPicPr>
          <p:cNvPr id="204" name="Google Shape;204;p19"/>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205" name="Google Shape;205;p19"/>
          <p:cNvPicPr preferRelativeResize="0"/>
          <p:nvPr/>
        </p:nvPicPr>
        <p:blipFill rotWithShape="1">
          <a:blip r:embed="rId2"/>
          <a:srcRect/>
          <a:stretch>
            <a:fillRect/>
          </a:stretch>
        </p:blipFill>
        <p:spPr>
          <a:xfrm>
            <a:off x="8178800" y="301625"/>
            <a:ext cx="654050" cy="511175"/>
          </a:xfrm>
          <a:prstGeom prst="rect">
            <a:avLst/>
          </a:prstGeom>
          <a:noFill/>
          <a:ln>
            <a:noFill/>
          </a:ln>
        </p:spPr>
      </p:pic>
      <p:pic>
        <p:nvPicPr>
          <p:cNvPr id="4" name="Picture 3"/>
          <p:cNvPicPr>
            <a:picLocks noChangeAspect="1"/>
          </p:cNvPicPr>
          <p:nvPr/>
        </p:nvPicPr>
        <p:blipFill>
          <a:blip r:embed="rId3"/>
          <a:stretch>
            <a:fillRect/>
          </a:stretch>
        </p:blipFill>
        <p:spPr>
          <a:xfrm>
            <a:off x="1165860" y="963930"/>
            <a:ext cx="6812280" cy="3520440"/>
          </a:xfrm>
          <a:prstGeom prst="rect">
            <a:avLst/>
          </a:prstGeom>
        </p:spPr>
      </p:pic>
      <p:sp>
        <p:nvSpPr>
          <p:cNvPr id="5" name="Slide Number Placeholder 4"/>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6" name="Text Box 5"/>
          <p:cNvSpPr txBox="1"/>
          <p:nvPr/>
        </p:nvSpPr>
        <p:spPr>
          <a:xfrm>
            <a:off x="3578860" y="4636135"/>
            <a:ext cx="2228215" cy="306705"/>
          </a:xfrm>
          <a:prstGeom prst="rect">
            <a:avLst/>
          </a:prstGeom>
          <a:noFill/>
        </p:spPr>
        <p:txBody>
          <a:bodyPr wrap="square" rtlCol="0">
            <a:spAutoFit/>
          </a:bodyPr>
          <a:p>
            <a:r>
              <a:rPr lang="en-US" altLang="en-US" b="1">
                <a:latin typeface="Times New Roman" panose="02020603050405020304" pitchFamily="18" charset="0"/>
                <a:cs typeface="Times New Roman" panose="02020603050405020304" pitchFamily="18" charset="0"/>
              </a:rPr>
              <a:t>Participant Profiling Data</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IMPLEMENTATION SCREENSHOTS</a:t>
            </a:r>
            <a:endParaRPr sz="2800" dirty="0">
              <a:solidFill>
                <a:schemeClr val="tx1"/>
              </a:solidFill>
              <a:latin typeface="Times New Roman" panose="02020603050405020304" pitchFamily="18" charset="0"/>
              <a:cs typeface="Times New Roman" panose="02020603050405020304" pitchFamily="18" charset="0"/>
            </a:endParaRPr>
          </a:p>
        </p:txBody>
      </p:sp>
      <p:pic>
        <p:nvPicPr>
          <p:cNvPr id="204" name="Google Shape;204;p19"/>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205" name="Google Shape;205;p19"/>
          <p:cNvPicPr preferRelativeResize="0"/>
          <p:nvPr/>
        </p:nvPicPr>
        <p:blipFill rotWithShape="1">
          <a:blip r:embed="rId2"/>
          <a:srcRect/>
          <a:stretch>
            <a:fillRect/>
          </a:stretch>
        </p:blipFill>
        <p:spPr>
          <a:xfrm>
            <a:off x="8178800" y="301625"/>
            <a:ext cx="654050" cy="511175"/>
          </a:xfrm>
          <a:prstGeom prst="rect">
            <a:avLst/>
          </a:prstGeom>
          <a:noFill/>
          <a:ln>
            <a:noFill/>
          </a:ln>
        </p:spPr>
      </p:pic>
      <p:pic>
        <p:nvPicPr>
          <p:cNvPr id="2" name="Picture 1"/>
          <p:cNvPicPr>
            <a:picLocks noChangeAspect="1"/>
          </p:cNvPicPr>
          <p:nvPr/>
        </p:nvPicPr>
        <p:blipFill>
          <a:blip r:embed="rId3"/>
          <a:stretch>
            <a:fillRect/>
          </a:stretch>
        </p:blipFill>
        <p:spPr>
          <a:xfrm>
            <a:off x="846455" y="1191260"/>
            <a:ext cx="6952615" cy="3417570"/>
          </a:xfrm>
          <a:prstGeom prst="rect">
            <a:avLst/>
          </a:prstGeom>
        </p:spPr>
      </p:pic>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6" name="Text Box 5"/>
          <p:cNvSpPr txBox="1"/>
          <p:nvPr/>
        </p:nvSpPr>
        <p:spPr>
          <a:xfrm>
            <a:off x="3578860" y="4636135"/>
            <a:ext cx="2776855" cy="306705"/>
          </a:xfrm>
          <a:prstGeom prst="rect">
            <a:avLst/>
          </a:prstGeom>
          <a:noFill/>
        </p:spPr>
        <p:txBody>
          <a:bodyPr wrap="square" rtlCol="0">
            <a:spAutoFit/>
          </a:bodyPr>
          <a:p>
            <a:pPr algn="ctr"/>
            <a:r>
              <a:rPr lang="en-US" altLang="en-US" b="1">
                <a:latin typeface="Times New Roman" panose="02020603050405020304" pitchFamily="18" charset="0"/>
                <a:cs typeface="Times New Roman" panose="02020603050405020304" pitchFamily="18" charset="0"/>
              </a:rPr>
              <a:t>Dashboard &amp; Visualization</a:t>
            </a:r>
            <a:endParaRPr lang="en-US" alt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IMPLEMENTATION SCREENSHOTS</a:t>
            </a:r>
            <a:endParaRPr sz="2800" dirty="0">
              <a:solidFill>
                <a:schemeClr val="tx1"/>
              </a:solidFill>
              <a:latin typeface="Times New Roman" panose="02020603050405020304" pitchFamily="18" charset="0"/>
              <a:cs typeface="Times New Roman" panose="02020603050405020304" pitchFamily="18" charset="0"/>
            </a:endParaRPr>
          </a:p>
        </p:txBody>
      </p:sp>
      <p:pic>
        <p:nvPicPr>
          <p:cNvPr id="204" name="Google Shape;204;p19"/>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205" name="Google Shape;205;p19"/>
          <p:cNvPicPr preferRelativeResize="0"/>
          <p:nvPr/>
        </p:nvPicPr>
        <p:blipFill rotWithShape="1">
          <a:blip r:embed="rId2"/>
          <a:srcRect/>
          <a:stretch>
            <a:fillRect/>
          </a:stretch>
        </p:blipFill>
        <p:spPr>
          <a:xfrm>
            <a:off x="8178800" y="301625"/>
            <a:ext cx="654050" cy="511175"/>
          </a:xfrm>
          <a:prstGeom prst="rect">
            <a:avLst/>
          </a:prstGeom>
          <a:noFill/>
          <a:ln>
            <a:noFill/>
          </a:ln>
        </p:spPr>
      </p:pic>
      <p:pic>
        <p:nvPicPr>
          <p:cNvPr id="3" name="Picture 2"/>
          <p:cNvPicPr>
            <a:picLocks noChangeAspect="1"/>
          </p:cNvPicPr>
          <p:nvPr/>
        </p:nvPicPr>
        <p:blipFill>
          <a:blip r:embed="rId3"/>
          <a:stretch>
            <a:fillRect/>
          </a:stretch>
        </p:blipFill>
        <p:spPr>
          <a:xfrm>
            <a:off x="1179195" y="1177290"/>
            <a:ext cx="6323330" cy="2788285"/>
          </a:xfrm>
          <a:prstGeom prst="rect">
            <a:avLst/>
          </a:prstGeom>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6" name="Text Box 5"/>
          <p:cNvSpPr txBox="1"/>
          <p:nvPr/>
        </p:nvSpPr>
        <p:spPr>
          <a:xfrm>
            <a:off x="3578860" y="4636135"/>
            <a:ext cx="2228215" cy="306705"/>
          </a:xfrm>
          <a:prstGeom prst="rect">
            <a:avLst/>
          </a:prstGeom>
          <a:noFill/>
        </p:spPr>
        <p:txBody>
          <a:bodyPr wrap="square" rtlCol="0">
            <a:spAutoFit/>
          </a:bodyPr>
          <a:p>
            <a:pPr algn="ctr"/>
            <a:r>
              <a:rPr lang="en-US" altLang="en-US" b="1">
                <a:latin typeface="Times New Roman" panose="02020603050405020304" pitchFamily="18" charset="0"/>
                <a:cs typeface="Times New Roman" panose="02020603050405020304" pitchFamily="18" charset="0"/>
              </a:rPr>
              <a:t>Notification Impact</a:t>
            </a:r>
            <a:endParaRPr lang="en-US" alt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title"/>
          </p:nvPr>
        </p:nvSpPr>
        <p:spPr>
          <a:xfrm>
            <a:off x="311150" y="444500"/>
            <a:ext cx="8521700" cy="573088"/>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chemeClr val="dk1"/>
              </a:buClr>
              <a:buSzPct val="111000"/>
              <a:buFont typeface="Arial" panose="020B0604020202020204"/>
              <a:buNone/>
            </a:pPr>
            <a:r>
              <a:rPr lang="en-US" sz="2800" b="1" dirty="0">
                <a:solidFill>
                  <a:schemeClr val="tx1"/>
                </a:solidFill>
                <a:latin typeface="Times New Roman" panose="02020603050405020304" pitchFamily="18" charset="0"/>
                <a:cs typeface="Times New Roman" panose="02020603050405020304" pitchFamily="18" charset="0"/>
              </a:rPr>
              <a:t>IMPLEMENTATION SCREENSHOTS</a:t>
            </a:r>
            <a:endParaRPr sz="2800" dirty="0">
              <a:solidFill>
                <a:schemeClr val="tx1"/>
              </a:solidFill>
              <a:latin typeface="Times New Roman" panose="02020603050405020304" pitchFamily="18" charset="0"/>
              <a:cs typeface="Times New Roman" panose="02020603050405020304" pitchFamily="18" charset="0"/>
            </a:endParaRPr>
          </a:p>
        </p:txBody>
      </p:sp>
      <p:pic>
        <p:nvPicPr>
          <p:cNvPr id="204" name="Google Shape;204;p19"/>
          <p:cNvPicPr preferRelativeResize="0"/>
          <p:nvPr/>
        </p:nvPicPr>
        <p:blipFill rotWithShape="1">
          <a:blip r:embed="rId1"/>
          <a:srcRect/>
          <a:stretch>
            <a:fillRect/>
          </a:stretch>
        </p:blipFill>
        <p:spPr>
          <a:xfrm>
            <a:off x="401638" y="255588"/>
            <a:ext cx="654050" cy="603250"/>
          </a:xfrm>
          <a:prstGeom prst="rect">
            <a:avLst/>
          </a:prstGeom>
          <a:noFill/>
          <a:ln>
            <a:noFill/>
          </a:ln>
        </p:spPr>
      </p:pic>
      <p:pic>
        <p:nvPicPr>
          <p:cNvPr id="205" name="Google Shape;205;p19"/>
          <p:cNvPicPr preferRelativeResize="0"/>
          <p:nvPr/>
        </p:nvPicPr>
        <p:blipFill rotWithShape="1">
          <a:blip r:embed="rId2"/>
          <a:srcRect/>
          <a:stretch>
            <a:fillRect/>
          </a:stretch>
        </p:blipFill>
        <p:spPr>
          <a:xfrm>
            <a:off x="8178800" y="301625"/>
            <a:ext cx="654050" cy="511175"/>
          </a:xfrm>
          <a:prstGeom prst="rect">
            <a:avLst/>
          </a:prstGeom>
          <a:noFill/>
          <a:ln>
            <a:noFill/>
          </a:ln>
        </p:spPr>
      </p:pic>
      <p:pic>
        <p:nvPicPr>
          <p:cNvPr id="2" name="Picture 1"/>
          <p:cNvPicPr>
            <a:picLocks noChangeAspect="1"/>
          </p:cNvPicPr>
          <p:nvPr/>
        </p:nvPicPr>
        <p:blipFill>
          <a:blip r:embed="rId3"/>
          <a:stretch>
            <a:fillRect/>
          </a:stretch>
        </p:blipFill>
        <p:spPr>
          <a:xfrm>
            <a:off x="1074420" y="1070610"/>
            <a:ext cx="6995160" cy="3002280"/>
          </a:xfrm>
          <a:prstGeom prst="rect">
            <a:avLst/>
          </a:prstGeom>
        </p:spPr>
      </p:pic>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6" name="Text Box 5"/>
          <p:cNvSpPr txBox="1"/>
          <p:nvPr/>
        </p:nvSpPr>
        <p:spPr>
          <a:xfrm>
            <a:off x="3578860" y="4636135"/>
            <a:ext cx="2228215" cy="306705"/>
          </a:xfrm>
          <a:prstGeom prst="rect">
            <a:avLst/>
          </a:prstGeom>
          <a:noFill/>
        </p:spPr>
        <p:txBody>
          <a:bodyPr wrap="square" rtlCol="0">
            <a:spAutoFit/>
          </a:bodyPr>
          <a:p>
            <a:r>
              <a:rPr lang="en-US" altLang="en-US" b="1">
                <a:latin typeface="Times New Roman" panose="02020603050405020304" pitchFamily="18" charset="0"/>
                <a:cs typeface="Times New Roman" panose="02020603050405020304" pitchFamily="18" charset="0"/>
              </a:rPr>
              <a:t>Threshold Management</a:t>
            </a:r>
            <a:endParaRPr lang="en-US" alt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2"/>
          <p:cNvSpPr txBox="1">
            <a:spLocks noGrp="1"/>
          </p:cNvSpPr>
          <p:nvPr>
            <p:ph type="title"/>
          </p:nvPr>
        </p:nvSpPr>
        <p:spPr>
          <a:xfrm>
            <a:off x="311700" y="2766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000"/>
              <a:buNone/>
            </a:pPr>
            <a:r>
              <a:rPr lang="en-US" b="1" dirty="0">
                <a:solidFill>
                  <a:schemeClr val="tx1"/>
                </a:solidFill>
                <a:latin typeface="Times New Roman" panose="02020603050405020304" pitchFamily="18" charset="0"/>
                <a:cs typeface="Times New Roman" panose="02020603050405020304" pitchFamily="18" charset="0"/>
              </a:rPr>
              <a:t>CONCLUSION</a:t>
            </a:r>
            <a:endParaRPr dirty="0">
              <a:solidFill>
                <a:schemeClr val="tx1"/>
              </a:solidFill>
              <a:latin typeface="Times New Roman" panose="02020603050405020304" pitchFamily="18" charset="0"/>
              <a:cs typeface="Times New Roman" panose="02020603050405020304" pitchFamily="18" charset="0"/>
            </a:endParaRPr>
          </a:p>
        </p:txBody>
      </p:sp>
      <p:sp>
        <p:nvSpPr>
          <p:cNvPr id="233" name="Google Shape;233;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114300" lvl="0" indent="0" algn="just" rtl="0">
              <a:lnSpc>
                <a:spcPct val="150000"/>
              </a:lnSpc>
              <a:spcBef>
                <a:spcPts val="0"/>
              </a:spcBef>
              <a:spcAft>
                <a:spcPts val="0"/>
              </a:spcAft>
              <a:buSzPts val="1800"/>
              <a:buNone/>
            </a:pPr>
            <a:endParaRPr sz="2000" dirty="0">
              <a:latin typeface="Times New Roman" panose="02020603050405020304" pitchFamily="18" charset="0"/>
              <a:cs typeface="Times New Roman" panose="02020603050405020304" pitchFamily="18" charset="0"/>
            </a:endParaRPr>
          </a:p>
          <a:p>
            <a:pPr marL="0" lvl="0" algn="just" eaLnBrk="1" fontAlgn="auto" latinLnBrk="0" hangingPunct="1">
              <a:lnSpc>
                <a:spcPct val="150000"/>
              </a:lnSpc>
              <a:buNone/>
            </a:pPr>
            <a:r>
              <a:rPr lang="en-US" sz="2000" dirty="0">
                <a:solidFill>
                  <a:schemeClr val="tx1"/>
                </a:solidFill>
                <a:latin typeface="Times New Roman" panose="02020603050405020304" pitchFamily="18" charset="0"/>
                <a:cs typeface="Times New Roman" panose="02020603050405020304" pitchFamily="18" charset="0"/>
                <a:sym typeface="Bookman Old Style" panose="02050604050505020204"/>
              </a:rPr>
              <a:t>This program explores the connection between daily screen exposure and sleep behaviour using empirical analysis. It emphasizes the growing influence of digital habits on sleep patterns in modern lifestyles. The findings contribute to better awareness of maintaining balanced screen usage for healthier living.</a:t>
            </a:r>
            <a:endParaRPr lang="en-US" sz="2000" dirty="0">
              <a:solidFill>
                <a:schemeClr val="tx1"/>
              </a:solidFill>
              <a:latin typeface="Times New Roman" panose="02020603050405020304" pitchFamily="18" charset="0"/>
              <a:cs typeface="Times New Roman" panose="02020603050405020304" pitchFamily="18" charset="0"/>
              <a:sym typeface="Bookman Old Style" panose="02050604050505020204"/>
            </a:endParaRPr>
          </a:p>
        </p:txBody>
      </p:sp>
      <p:pic>
        <p:nvPicPr>
          <p:cNvPr id="234" name="Google Shape;234;p22"/>
          <p:cNvPicPr preferRelativeResize="0"/>
          <p:nvPr/>
        </p:nvPicPr>
        <p:blipFill rotWithShape="1">
          <a:blip r:embed="rId1"/>
          <a:srcRect/>
          <a:stretch>
            <a:fillRect/>
          </a:stretch>
        </p:blipFill>
        <p:spPr>
          <a:xfrm>
            <a:off x="401443" y="255331"/>
            <a:ext cx="654206" cy="604088"/>
          </a:xfrm>
          <a:prstGeom prst="rect">
            <a:avLst/>
          </a:prstGeom>
          <a:noFill/>
          <a:ln>
            <a:noFill/>
          </a:ln>
        </p:spPr>
      </p:pic>
      <p:pic>
        <p:nvPicPr>
          <p:cNvPr id="235" name="Google Shape;235;p22"/>
          <p:cNvPicPr preferRelativeResize="0"/>
          <p:nvPr/>
        </p:nvPicPr>
        <p:blipFill rotWithShape="1">
          <a:blip r:embed="rId2"/>
          <a:srcRect/>
          <a:stretch>
            <a:fillRect/>
          </a:stretch>
        </p:blipFill>
        <p:spPr>
          <a:xfrm>
            <a:off x="8178093" y="301976"/>
            <a:ext cx="654207" cy="510798"/>
          </a:xfrm>
          <a:prstGeom prst="rect">
            <a:avLst/>
          </a:prstGeom>
          <a:noFill/>
          <a:ln>
            <a:noFill/>
          </a:ln>
        </p:spPr>
      </p:pic>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5"/>
          <p:cNvSpPr txBox="1"/>
          <p:nvPr/>
        </p:nvSpPr>
        <p:spPr>
          <a:xfrm>
            <a:off x="-415383" y="1887289"/>
            <a:ext cx="9067800" cy="858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1" i="1"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rPr>
              <a:t>THANK YOU !!!</a:t>
            </a:r>
            <a:endParaRPr sz="2400" b="1" i="1" u="none" strike="noStrike" cap="none" dirty="0">
              <a:solidFill>
                <a:schemeClr val="tx1"/>
              </a:solidFill>
              <a:latin typeface="Times New Roman" panose="02020603050405020304" pitchFamily="18" charset="0"/>
              <a:cs typeface="Times New Roman" panose="02020603050405020304" pitchFamily="18" charset="0"/>
              <a:sym typeface="Arial" panose="020B0604020202020204"/>
            </a:endParaRPr>
          </a:p>
        </p:txBody>
      </p:sp>
      <p:sp>
        <p:nvSpPr>
          <p:cNvPr id="2" name="Slide Number Placeholder 1"/>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5641</Words>
  <Application>WPS Presentation</Application>
  <PresentationFormat>On-screen Show (16:9)</PresentationFormat>
  <Paragraphs>213</Paragraphs>
  <Slides>25</Slides>
  <Notes>22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Arial</vt:lpstr>
      <vt:lpstr>SimSun</vt:lpstr>
      <vt:lpstr>Wingdings</vt:lpstr>
      <vt:lpstr>Arial</vt:lpstr>
      <vt:lpstr>Times New Roman</vt:lpstr>
      <vt:lpstr>Calibri</vt:lpstr>
      <vt:lpstr>Bookman Old Style</vt:lpstr>
      <vt:lpstr>Gill Sans</vt:lpstr>
      <vt:lpstr>Gill Sans MT</vt:lpstr>
      <vt:lpstr>Microsoft YaHei</vt:lpstr>
      <vt:lpstr>Arial Unicode MS</vt:lpstr>
      <vt:lpstr>Wingdings</vt:lpstr>
      <vt:lpstr>Simple Light</vt:lpstr>
      <vt:lpstr>PowerPoint 演示文稿</vt:lpstr>
      <vt:lpstr>PowerPoint 演示文稿</vt:lpstr>
      <vt:lpstr>PowerPoint 演示文稿</vt:lpstr>
      <vt:lpstr>OBJECTIVE</vt:lpstr>
      <vt:lpstr>                     PROBLEM STATEMENT </vt:lpstr>
      <vt:lpstr>PowerPoint 演示文稿</vt:lpstr>
      <vt:lpstr>PowerPoint 演示文稿</vt:lpstr>
      <vt:lpstr>METHODOLOGY </vt:lpstr>
      <vt:lpstr>METHODOLOGY </vt:lpstr>
      <vt:lpstr>METHODOLOGY </vt:lpstr>
      <vt:lpstr>HARDWARE AND SOFTWARE REQUIREMENTS</vt:lpstr>
      <vt:lpstr>ARCHITECTURE DIAGRAM</vt:lpstr>
      <vt:lpstr>MODULE DESCRIPTION</vt:lpstr>
      <vt:lpstr>MODULE DESCRIPTION</vt:lpstr>
      <vt:lpstr>MODULE DESCRIPTION</vt:lpstr>
      <vt:lpstr>MODULE DESCRIPTION</vt:lpstr>
      <vt:lpstr>MODULE DESCRIPTION</vt:lpstr>
      <vt:lpstr>MODULE DESCRIPTION</vt:lpstr>
      <vt:lpstr>MODULE DESCRIPTION</vt:lpstr>
      <vt:lpstr>IMPLEMENTATION SCREENSHOTS</vt:lpstr>
      <vt:lpstr>IMPLEMENTATION SCREENSHOTS</vt:lpstr>
      <vt:lpstr>IMPLEMENTATION SCREENSHOTS</vt:lpstr>
      <vt:lpstr>IMPLEMENTATION SCREENSHOTS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Sharmila</dc:creator>
  <cp:lastModifiedBy>Rishi Sukumar</cp:lastModifiedBy>
  <cp:revision>9</cp:revision>
  <dcterms:created xsi:type="dcterms:W3CDTF">2026-03-17T15:22:00Z</dcterms:created>
  <dcterms:modified xsi:type="dcterms:W3CDTF">2026-05-03T15:34:45Z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05C275A6F93842AABC72A0704023EA39_13</vt:lpwstr>
  </property>
  <property fmtid="{D5CDD505-2E9C-101B-9397-08002B2CF9AE}" pid="3" name="KSOProductBuildVer">
    <vt:lpwstr>1033-12.1.0.25862</vt:lpwstr>
  </property>
</Properties>
</file>